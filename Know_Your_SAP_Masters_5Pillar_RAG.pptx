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76200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194560" cy="384048"/>
          </a:xfrm>
          <a:prstGeom prst="round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ENTERPRISE AI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Know Your
SAP Masters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AC2"/>
                </a:solidFill>
                <a:latin typeface="Calibri"/>
              </a:rPr>
              <a:t>5-Pillar RAG Architecture for SAP S/4 HANA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17720"/>
            <a:ext cx="32004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A8"/>
                </a:solidFill>
                <a:latin typeface="Calibri"/>
              </a:rPr>
              <a:t>From Vendor Chatbot → Enterprise Master Data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914400"/>
            <a:ext cx="3017520" cy="777240"/>
          </a:xfrm>
          <a:prstGeom prst="round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P1
Role-Aware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011680"/>
            <a:ext cx="3017520" cy="777240"/>
          </a:xfrm>
          <a:prstGeom prst="round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P2
Agentic 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108960"/>
            <a:ext cx="3017520" cy="777240"/>
          </a:xfrm>
          <a:prstGeom prst="round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P3
Schema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206240"/>
            <a:ext cx="3017520" cy="777240"/>
          </a:xfrm>
          <a:prstGeom prst="round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P4
SQL 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5303520"/>
            <a:ext cx="3017520" cy="7772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P5
Graph 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Why generic LLMs fail on SAP S/4 HANA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  <a:latin typeface="Calibri"/>
              </a:rPr>
              <a:t>90,000+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SAP's DDIC is vast. Natural language queries cannot reliably map 'vendor' to LFA1 or 'pricing' to KONP without domain-specific retrieval.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  <a:latin typeface="Calibri"/>
              </a:rPr>
              <a:t>SAP SQL Idioms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LLMs hallucinate critical patterns: MANDT filters, deletion flags (LOEVM, LVORM), and index-aware join order (BUKRS first).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92424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  <a:latin typeface="Calibri"/>
              </a:rPr>
              <a:t>Cross-Module 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Enterprise questions span modules — 'Which vendors supply materials in Cost Center X?' requires MARA→EINA→LFA1→CSKS traversal.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71416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71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  <a:latin typeface="Calibri"/>
              </a:rPr>
              <a:t>Authorization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64024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SAP's object-based security (BUKRS, WERKS, EKORG) cannot be delegated to an LLM's internal reasoning. It must be a hard constraint.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50408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550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  <a:latin typeface="Calibri"/>
              </a:rPr>
              <a:t>No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843016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Every SQL-generating interaction must be logged with user identity, generated SQL, and auth context for SOX compliance.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5-Pillar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A layered defense for enterprise-grade SAP SQL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176272" cy="64008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Pillar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Role-Aware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965960"/>
            <a:ext cx="63500" cy="635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Security perimeter &amp; SOX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063240"/>
            <a:ext cx="63500" cy="635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2666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AuthContext enforcement at 3 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160520"/>
            <a:ext cx="63500" cy="635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Column-level masking &amp; row filtering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5257800"/>
            <a:ext cx="63500" cy="635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Immutable audit ledger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42032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42032" y="1188720"/>
            <a:ext cx="2176272" cy="64008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123444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Pillar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Agentic RAG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965960"/>
            <a:ext cx="63500" cy="635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2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Autonomous orchestrator (ReAct loop)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063240"/>
            <a:ext cx="63500" cy="635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302666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Multi-step planning &amp; decomposition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4160520"/>
            <a:ext cx="63500" cy="635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0632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Self-correction on SQL errors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257800"/>
            <a:ext cx="63500" cy="635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Intent routing across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9744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09744" y="1188720"/>
            <a:ext cx="2176272" cy="64008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123444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Pillar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01184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Schema RAG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19472" y="1965960"/>
            <a:ext cx="63500" cy="635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Dynamic SAP DDIC metadata retrieval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9472" y="3063240"/>
            <a:ext cx="63500" cy="635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38344" y="302666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Qdrant vector search by module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19472" y="4160520"/>
            <a:ext cx="63500" cy="635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38344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CDS View abstraction layer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19472" y="5257800"/>
            <a:ext cx="63500" cy="635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38344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Covers 90,000+ tables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77456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77456" y="1188720"/>
            <a:ext cx="2176272" cy="64008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68896" y="123444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Pillar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8896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SQL RAG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87184" y="196596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06056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Few-shot proven SAP SQL patterns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87184" y="306324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06056" y="302666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MANDT / LOEVM idiom injection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87184" y="416052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06056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Performance-aware query library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87184" y="525780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06056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Auto-promotion of validated queries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45168" y="1188720"/>
            <a:ext cx="217627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45168" y="1188720"/>
            <a:ext cx="2176272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36608" y="123444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Pillar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36608" y="146304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Graph RAG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54896" y="196596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73768" y="192938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NetworkX cross-module traversal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54896" y="306324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73768" y="302666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MARA→EINA→LFA1 join path discovery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54896" y="416052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73768" y="412394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Shortest-path join sequencing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54896" y="525780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73768" y="5221224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Multi-hop Q&amp;A (Phase 2)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A376E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51760"/>
            <a:ext cx="54864" cy="16459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468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Role-Aware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AC2"/>
                </a:solidFill>
                <a:latin typeface="Calibri"/>
              </a:rPr>
              <a:t>Pillar 1 — Security Mesh &amp; SOX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Role-Aware RAG — 3-Layer Security 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Every query is intercepted, validated, and audited before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657600" cy="109728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Layer 1 — Prompt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AuthContext hardcoded into LLM system prompt.
Defines BUKRS/WERKS allowed values and masked columns.
LLM cannot 'forget' — it's structurally enforced.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657600" cy="109728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Layer 2 — SQL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27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sqlglot parses generated SQL pre-execution.
Verifies WHERE clauses exist for restricted fields.
Blocks INSERT/UPDATE/DELETE and restricted columns.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3657600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Layer 3 — Response Masking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2763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Post-execution field redaction.
Bank accounts, SSNs, salary data stripped.
Final markdown sanitized before user display.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2514600"/>
          <a:ext cx="115214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3749039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00B0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SAP Auth Object</a:t>
                      </a:r>
                    </a:p>
                  </a:txBody>
                  <a:tcPr>
                    <a:solidFill>
                      <a:srgbClr val="00B0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Maps to Column</a:t>
                      </a:r>
                    </a:p>
                  </a:txBody>
                  <a:tcPr>
                    <a:solidFill>
                      <a:srgbClr val="00B06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F_BKPF_BUK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BUKRS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Material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M_MATE_WRK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WERKS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Purchasing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M_BEST_EKO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EKORG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V_VBAK_VKO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VKORG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Business 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F_LFA1_BUK / F_KNA1_BUK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BUKRS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2395728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D4A"/>
                </a:solidFill>
                <a:latin typeface="Calibri"/>
              </a:rPr>
              <a:t>SAP Authorization Object Mapping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A376E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51760"/>
            <a:ext cx="54864" cy="16459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468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Agentic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AC2"/>
                </a:solidFill>
                <a:latin typeface="Calibri"/>
              </a:rPr>
              <a:t>Pillar 2 — Autonomous Reasoning &amp;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Agentic RAG — ReAct Orchestration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The autonomous brain that plans, validates, self-corrects, and delivers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757680"/>
            <a:ext cx="109728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280160"/>
            <a:ext cx="1325880" cy="1005840"/>
          </a:xfrm>
          <a:prstGeom prst="round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USER
QUERY</a:t>
            </a:r>
            <a:r>
              <a:rPr sz="800" i="1">
                <a:solidFill>
                  <a:srgbClr val="FFFFFF"/>
                </a:solidFill>
                <a:latin typeface="Calibri"/>
              </a:rPr>
              <a:t>
Intent Classification
&amp; Decomposition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1757680"/>
            <a:ext cx="109728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55648" y="1280160"/>
            <a:ext cx="1325880" cy="1005840"/>
          </a:xfrm>
          <a:prstGeom prst="roundRect">
            <a:avLst/>
          </a:prstGeom>
          <a:solidFill>
            <a:srgbClr val="4A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AUTH
CHECK</a:t>
            </a:r>
            <a:r>
              <a:rPr sz="800" i="1">
                <a:solidFill>
                  <a:srgbClr val="FFFFFF"/>
                </a:solidFill>
                <a:latin typeface="Calibri"/>
              </a:rPr>
              <a:t>
get_auth_context()
Role-Aware Pillar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1757680"/>
            <a:ext cx="109728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91256" y="1280160"/>
            <a:ext cx="1325880" cy="1005840"/>
          </a:xfrm>
          <a:prstGeom prst="round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SCHEMA
RAG</a:t>
            </a:r>
            <a:r>
              <a:rPr sz="800" i="1">
                <a:solidFill>
                  <a:srgbClr val="FFFFFF"/>
                </a:solidFill>
                <a:latin typeface="Calibri"/>
              </a:rPr>
              <a:t>
search_schema()
Pillar 3 — Qdrant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2744" y="1757680"/>
            <a:ext cx="109728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6864" y="1280160"/>
            <a:ext cx="1325880" cy="1005840"/>
          </a:xfrm>
          <a:prstGeom prst="round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SQL
RAG</a:t>
            </a:r>
            <a:r>
              <a:rPr sz="800" i="1">
                <a:solidFill>
                  <a:srgbClr val="FFFFFF"/>
                </a:solidFill>
                <a:latin typeface="Calibri"/>
              </a:rPr>
              <a:t>
get_sql_patterns()
Pillar 4 — Few-shot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3266440"/>
            <a:ext cx="109728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2788920"/>
            <a:ext cx="1325880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GRAPH
RAG</a:t>
            </a:r>
            <a:r>
              <a:rPr sz="800" i="1">
                <a:solidFill>
                  <a:srgbClr val="FFFFFF"/>
                </a:solidFill>
                <a:latin typeface="Calibri"/>
              </a:rPr>
              <a:t>
traverse_graph()
Pillar 5 — NetworkX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528" y="3266440"/>
            <a:ext cx="109728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55648" y="2788920"/>
            <a:ext cx="1325880" cy="1005840"/>
          </a:xfrm>
          <a:prstGeom prst="round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SQL
GEN</a:t>
            </a:r>
            <a:r>
              <a:rPr sz="800" i="1">
                <a:solidFill>
                  <a:srgbClr val="FFFFFF"/>
                </a:solidFill>
                <a:latin typeface="Calibri"/>
              </a:rPr>
              <a:t>
LLM → HANA SQL
+ Auth Filters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3266440"/>
            <a:ext cx="109728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91256" y="2788920"/>
            <a:ext cx="1325880" cy="1005840"/>
          </a:xfrm>
          <a:prstGeom prst="round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EXECUTE
&amp; VALIDATE</a:t>
            </a:r>
            <a:r>
              <a:rPr sz="800" i="1">
                <a:solidFill>
                  <a:srgbClr val="FFFFFF"/>
                </a:solidFill>
                <a:latin typeface="Calibri"/>
              </a:rPr>
              <a:t>
execute_hana_sql()
Self-Correction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26864" y="2788920"/>
            <a:ext cx="1325880" cy="10058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FINAL
ANSWER</a:t>
            </a:r>
            <a:r>
              <a:rPr sz="800" i="1">
                <a:solidFill>
                  <a:srgbClr val="FFFFFF"/>
                </a:solidFill>
                <a:latin typeface="Calibri"/>
              </a:rPr>
              <a:t>
Natural Language
Response to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7947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D4A"/>
                </a:solidFill>
                <a:latin typeface="Calibri"/>
              </a:rPr>
              <a:t>Agent Tool Ecosystem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69664"/>
            <a:ext cx="63500" cy="635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  <a:latin typeface="Calibri"/>
              </a:rPr>
              <a:t>get_auth_context()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1148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  <a:latin typeface="Calibri"/>
              </a:rPr>
              <a:t>Fetches user BUKRS/WERKS/EKORG scope from SAP Auth 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26864"/>
            <a:ext cx="63500" cy="635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  <a:latin typeface="Calibri"/>
              </a:rPr>
              <a:t>search_schema()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5720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  <a:latin typeface="Calibri"/>
              </a:rPr>
              <a:t>Qdrant retrieval of DDIC metadata — tables, columns, descriptions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84064"/>
            <a:ext cx="63500" cy="63500"/>
          </a:xfrm>
          <a:prstGeom prst="rect">
            <a:avLst/>
          </a:prstGeom>
          <a:solidFill>
            <a:srgbClr val="6B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  <a:latin typeface="Calibri"/>
              </a:rPr>
              <a:t>get_sql_patterns()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0292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  <a:latin typeface="Calibri"/>
              </a:rPr>
              <a:t>Few-shot proven SQL templates — MANDT, LOEVM, join idioms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541264"/>
            <a:ext cx="63500" cy="635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  <a:latin typeface="Calibri"/>
              </a:rPr>
              <a:t>traverse_graph()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4864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  <a:latin typeface="Calibri"/>
              </a:rPr>
              <a:t>NetworkX shortest-path between SAP tables across modules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998464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  <a:latin typeface="Calibri"/>
              </a:rPr>
              <a:t>execute_hana_sql()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94360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  <a:latin typeface="Calibri"/>
              </a:rPr>
              <a:t>Runs validated SQL on HANA, returns results or error for retry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A376E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51760"/>
            <a:ext cx="54864" cy="16459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468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Schema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AC2"/>
                </a:solidFill>
                <a:latin typeface="Calibri"/>
              </a:rPr>
              <a:t>Pillar 3 — Dynamic SAP DDIC Metadata 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Schema RAG — DDIC to Vector Store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From 90,000 SAP tables to lean, retrieved context 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651760" cy="1280160"/>
          </a:xfrm>
          <a:prstGeom prst="round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SAP DDIC
Extraction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
DD02L / DD03L / DD08L
PyRFC / OData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920240"/>
            <a:ext cx="256032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73552" y="1371600"/>
            <a:ext cx="2651760" cy="1280160"/>
          </a:xfrm>
          <a:prstGeom prst="roundRect">
            <a:avLst/>
          </a:prstGeom>
          <a:solidFill>
            <a:srgbClr val="00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Document
Enrichment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
JSON schema docs:
tables + columns
+ join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1920240"/>
            <a:ext cx="256032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651760" cy="1280160"/>
          </a:xfrm>
          <a:prstGeom prst="roundRect">
            <a:avLst/>
          </a:prstGeom>
          <a:solidFill>
            <a:srgbClr val="00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Embedding
&amp; Index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
text-embedding-3-large
→ Qdrant collection
sap_schemas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33104" y="1920240"/>
            <a:ext cx="256032" cy="50800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89136" y="1371600"/>
            <a:ext cx="2651760" cy="1280160"/>
          </a:xfrm>
          <a:prstGeom prst="round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Runtime
Retrieval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
search_schema(query,
module, top_k=3)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2834640"/>
          <a:ext cx="11521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E87D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Core Tables</a:t>
                      </a:r>
                    </a:p>
                  </a:txBody>
                  <a:tcPr>
                    <a:solidFill>
                      <a:srgbClr val="E87D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Vector Search Filter</a:t>
                      </a:r>
                    </a:p>
                  </a:txBody>
                  <a:tcPr>
                    <a:solidFill>
                      <a:srgbClr val="E87D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Material (MM)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MARA, MARC, MARD, MBEW, MVKE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module=MM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Business Partner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BUT000, LFA1, KNA1, ADRC, BUT100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module=BP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Purchasing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EINA, EINE, EORD, EKKO, EKPO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module=MM-PUR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Sales &amp; Distribution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VBAK, VBAP, KONV, KNVV, TVRO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module=SD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Finance / 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SKA1, SKB1, CSKS, CEPC, ANLA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module=FI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Quality Mgmt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QMAT, QPAC, PLMK, MAPL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module=QM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Project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PROJ, PRPS, AFVC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module=PS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A376E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51760"/>
            <a:ext cx="54864" cy="16459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468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SQL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AC2"/>
                </a:solidFill>
                <a:latin typeface="Calibri"/>
              </a:rPr>
              <a:t>Pillar 4 — Proven SAP SQL Pattern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SQL RAG — Few-Shot Pattern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Grounding LLMs in proven SAP SQL idioms instead of generating from scratch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Critical SAP Idioms LLMs Miss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MANDT (Client) filter — LLM hallucination target #1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Module-specific deletion flags — LOEVM, LVORM, LVOMA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Header/Item join patterns — VBAK→VBAP→KONV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Index-aware join order — BUKRS first on BSEG/MSEG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63500" cy="6350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  <a:latin typeface="Calibri"/>
              </a:rPr>
              <a:t>Business logic — ADD_DAYS(ZFBDT, ZBD3T) for overdue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897880" y="1234440"/>
          <a:ext cx="59893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60320"/>
                <a:gridCol w="1554480"/>
                <a:gridCol w="1051560"/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Query ID</a:t>
                      </a:r>
                    </a:p>
                  </a:txBody>
                  <a:tcPr>
                    <a:solidFill>
                      <a:srgbClr val="CC2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Intent / Business Question</a:t>
                      </a:r>
                    </a:p>
                  </a:txBody>
                  <a:tcPr>
                    <a:solidFill>
                      <a:srgbClr val="CC2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Tables</a:t>
                      </a:r>
                    </a:p>
                  </a:txBody>
                  <a:tcPr>
                    <a:solidFill>
                      <a:srgbClr val="CC2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CC292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MAT-001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Show material base details and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MARA, MAKT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MAT-003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Current stock for material in plant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MARD, MARC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SLS-001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Sales order header and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VBAK, VBUK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SLS-002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Items and pricing for sales order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VBAP, KONV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FIN-001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G/L account details for company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SKA1, SKB1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FIN-002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Open vendor items (overdue)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BSIK, LFA1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FI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PUR-001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Open POs for a specific 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EKKO, EKPO, LFA1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BP-001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Vendor bank and payment terms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LFA1, LFB1, LFBK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C2D4A"/>
                          </a:solidFill>
                        </a:rPr>
                        <a:t>BP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A376E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51760"/>
            <a:ext cx="54864" cy="16459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468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Graph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AC2"/>
                </a:solidFill>
                <a:latin typeface="Calibri"/>
              </a:rPr>
              <a:t>Pillar 5 — Cross-Module Relationship Mapping via NetworkX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Graph RAG — NetworkX Multi-Hop Traversal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Finding join paths that Schema RAG cannot reach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NetworkX Graph Construction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280160" cy="868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LFA1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Vendor Master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200400"/>
            <a:ext cx="1280160" cy="868680"/>
          </a:xfrm>
          <a:prstGeom prst="roundRect">
            <a:avLst/>
          </a:prstGeom>
          <a:solidFill>
            <a:srgbClr val="007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EINA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Purchasing
Info 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931920"/>
            <a:ext cx="1280160" cy="868680"/>
          </a:xfrm>
          <a:prstGeom prst="roundRect">
            <a:avLst/>
          </a:prstGeom>
          <a:solidFill>
            <a:srgbClr val="006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MARA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Material Master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743200"/>
            <a:ext cx="1280160" cy="868680"/>
          </a:xfrm>
          <a:prstGeom prst="roundRect">
            <a:avLst/>
          </a:prstGeom>
          <a:solidFill>
            <a:srgbClr val="00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CSKS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Cost Center
Master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4297680"/>
            <a:ext cx="36576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5262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009688"/>
                </a:solidFill>
                <a:latin typeface="Calibri"/>
              </a:rPr>
              <a:t>LIFNR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297680"/>
            <a:ext cx="36576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45262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009688"/>
                </a:solidFill>
                <a:latin typeface="Calibri"/>
              </a:rPr>
              <a:t>MATNR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3246120"/>
            <a:ext cx="274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3520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009688"/>
                </a:solidFill>
                <a:latin typeface="Calibri"/>
              </a:rPr>
              <a:t>MATNR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611880"/>
            <a:ext cx="274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54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009688"/>
                </a:solidFill>
                <a:latin typeface="Calibri"/>
              </a:rPr>
              <a:t>KOSGR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1234440"/>
            <a:ext cx="59893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7880" y="1234440"/>
            <a:ext cx="598932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Cross-Module Join Paths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82880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Procurement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  <a:latin typeface="Calibri"/>
              </a:rPr>
              <a:t>Material → 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783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  <a:latin typeface="Calibri"/>
              </a:rPr>
              <a:t>MARA → EINA → LFA1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60604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  <a:latin typeface="Calibri"/>
              </a:rPr>
              <a:t>Material → 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  <a:latin typeface="Calibri"/>
              </a:rPr>
              <a:t>MARA → KNMT → KNA1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38328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Costing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  <a:latin typeface="Calibri"/>
              </a:rPr>
              <a:t>Material → Cost Center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337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  <a:latin typeface="Calibri"/>
              </a:rPr>
              <a:t>MARA → MARC → MBEW → CKMLHD → CSKS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416052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  <a:latin typeface="Calibri"/>
              </a:rPr>
              <a:t>Material → Inspection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114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  <a:latin typeface="Calibri"/>
              </a:rPr>
              <a:t>MARA → MAPL → PLMK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493776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  <a:latin typeface="Calibri"/>
              </a:rPr>
              <a:t>Material → WBS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  <a:latin typeface="Calibri"/>
              </a:rPr>
              <a:t>MARA → RESB → PRPS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5715000"/>
            <a:ext cx="63500" cy="635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669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Finance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C2D4A"/>
                </a:solidFill>
                <a:latin typeface="Calibri"/>
              </a:rPr>
              <a:t>Vendor → G/L Account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669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  <a:latin typeface="Calibri"/>
              </a:rPr>
              <a:t>LFA1 → BSIK → HKONT → SKA1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Unified 5-Pillar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End-to-end flow from user query to secured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1548872" cy="6202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9520"/>
            <a:ext cx="3200400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39520"/>
            <a:ext cx="8074152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Streamlit / Gradio — Natural Language Chat, Session History, 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1228832" cy="620268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97888"/>
            <a:ext cx="3200400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Pillar 1: Role-Aware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897888"/>
            <a:ext cx="7754112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AuthContext (BUKRS/WERKS) + SQL Validator + Response Masker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505456"/>
            <a:ext cx="10908792" cy="620268"/>
          </a:xfrm>
          <a:prstGeom prst="rect">
            <a:avLst/>
          </a:prstGeom>
          <a:solidFill>
            <a:srgbClr val="28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56256"/>
            <a:ext cx="3200400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Pillar 2: Agentic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56256"/>
            <a:ext cx="7434072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ReAct Loop — Intent Routing → Tool Selection → Self-Correction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3163824"/>
            <a:ext cx="10588752" cy="62026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14624"/>
            <a:ext cx="3200400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Pillars 3+4+5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14624"/>
            <a:ext cx="7114032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Schema RAG + SQL RAG + Graph RAG — Specialised Retrieval Mesh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3822192"/>
            <a:ext cx="10268712" cy="6202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3872992"/>
            <a:ext cx="3200400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SQL Generation &amp;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72992"/>
            <a:ext cx="6793992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LLM → HANA SQL → sqlglot AST check → AuthConstraint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4480560"/>
            <a:ext cx="9948672" cy="6202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4531360"/>
            <a:ext cx="3200400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SAP S/4 HANA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531360"/>
            <a:ext cx="6473952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Trusted execution — MANDT-enforced, index-aware 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5138928"/>
            <a:ext cx="9628632" cy="620268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5189728"/>
            <a:ext cx="3200400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Audit &amp; Response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5189728"/>
            <a:ext cx="6153912" cy="55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Immutable ledger — user, SQL hash, auth result, rows returned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Enterprise Master Data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18 SAP modules supported at launch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3840480"/>
                <a:gridCol w="3474720"/>
              </a:tblGrid>
              <a:tr h="27913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1A37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SAP Module</a:t>
                      </a:r>
                    </a:p>
                  </a:txBody>
                  <a:tcPr>
                    <a:solidFill>
                      <a:srgbClr val="1A37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Key Objects</a:t>
                      </a:r>
                    </a:p>
                  </a:txBody>
                  <a:tcPr>
                    <a:solidFill>
                      <a:srgbClr val="1A37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Core Tables</a:t>
                      </a:r>
                    </a:p>
                  </a:txBody>
                  <a:tcPr>
                    <a:solidFill>
                      <a:srgbClr val="1A376E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Business 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Cross-Module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Vendors, Customers, Roles, Addresses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BUT000, LFA1, KNA1, ADRC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Material Master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MM / SD / PP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Materials, Products, Services, Plant Data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MARA, MARC, MARD, MBEW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Purchasing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MM-PUR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Purchasing Info Records, Source Lists, Quotas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EINA, EINE, EORD, EQUK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Sales &amp; Dist.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Pricing, Customer-Material, Routes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KONP, KNMT, TVRO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Warehouse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EWM / WM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Storage Bins, Types, Handling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LAGP, LQUA, VEKP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Quality Mgmt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Inspection Plans, Master Characteristics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MAPL, PLMK, QINF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Project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WBS Elements, Networks, Project Defs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PRPS, PROJ, AFVC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Transportation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TM / LE-TRA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Freight Forwarders, Transportation Zones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/SCMTMS/D_TORROT, VTTK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Customer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Service Masters, Warranties,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ASMD, BGMK, VBAK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EHS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EHS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Substance Data, Dangerous Goods, Specs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ESTRH, ESTVH, DGTMD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Variant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LO-VC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Characteristics, Classes, Config 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CABN, KLAH, CUOBJ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Real Estate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RE-FX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Architectural Views, RE Contracts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VICNCN, VIBDAO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GTS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Customs, Commodity Codes, Sanctioned Parties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/SAPSLL/PNTPR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IS-OIL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IS-OIL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Silo/Tank Data, Joint Venture Accounting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OIB_A04, T8JV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IS-Retail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IS-R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Article Master, Site Master, Assortments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MARA, T001W, WRS1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IS-Utilities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IS-U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Device Locations, Installations, Connection Objects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EGERR, EANL, EVBS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r>
                        <a:t>IS-Health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IS-H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Patients, Business Partners,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NPAT, NBEW, NPNZ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144">
                <a:tc>
                  <a:txBody>
                    <a:bodyPr/>
                    <a:lstStyle/>
                    <a:p>
                      <a:r>
                        <a:t>Taxation India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CIN / GST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HSN/SAC Codes, GSTIN, Vendor GST Details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J_1IG_HSN_SAC, J_1BBRANCH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C2"/>
                </a:solidFill>
                <a:latin typeface="Calibri"/>
              </a:rPr>
              <a:t>Build foundations fast, add cross-module intelligence incrementally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8346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834640" cy="9601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  <a:latin typeface="Calibri"/>
              </a:rPr>
              <a:t>Weeks 1–4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Isolated Master Data Foundations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386584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Schema RAG + SQL RAG for BP, Material, Finance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346704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Role-Aware RAG core — AuthContext 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306824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Agentic Orchestrator — basic ReAct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266944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1208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Fast win: Chat with single-domain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234440"/>
            <a:ext cx="28346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234440"/>
            <a:ext cx="2834640" cy="9601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  <a:latin typeface="Calibri"/>
              </a:rPr>
              <a:t>Weeks 5–8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536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Cross-Module via Graph RAG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5848" y="2386584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33172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NetworkX graph construction from DD08L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3346704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329184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Graph RAG for MM→BP→FI join paths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4306824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25196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Multi-hop Q&amp;A: MARA→EINA→LFA1→CSKS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5848" y="5266944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21208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CDS View abstraction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234440"/>
            <a:ext cx="28346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234440"/>
            <a:ext cx="2834640" cy="96012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  <a:latin typeface="Calibri"/>
              </a:rPr>
              <a:t>Weeks 9–11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536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Transactional Data 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2386584"/>
            <a:ext cx="63500" cy="6350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33172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Extend to PO, Invoice, Material Docs, JEs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3346704"/>
            <a:ext cx="63500" cy="6350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29184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High-volume table support: EKKO/EKPO, BSEG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7648" y="4306824"/>
            <a:ext cx="63500" cy="6350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25196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SQL Library expansion — aggregation patterns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5266944"/>
            <a:ext cx="63500" cy="63500"/>
          </a:xfrm>
          <a:prstGeom prst="rect">
            <a:avLst/>
          </a:prstGeom>
          <a:solidFill>
            <a:srgbClr val="00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21208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Response masking refinement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9720" y="1234440"/>
            <a:ext cx="28346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89720" y="1234440"/>
            <a:ext cx="283464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1261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  <a:latin typeface="Calibri"/>
              </a:rPr>
              <a:t>Weeks 12–14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15361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Production Polish &amp; Audit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99448" y="2386584"/>
            <a:ext cx="63500" cy="6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233172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Immutable audit ledger — SOX ready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99448" y="3346704"/>
            <a:ext cx="63500" cy="6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329184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UAT with distinct persona roles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99448" y="4306824"/>
            <a:ext cx="63500" cy="6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425196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Performance benchmarking &amp; optimization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9448" y="5266944"/>
            <a:ext cx="63500" cy="6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0" y="521208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  <a:latin typeface="Calibri"/>
              </a:rPr>
              <a:t>Production deployment &amp; monitoring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5-Pillar RAG Architecture  |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76200" cy="6858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32004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From Vendor Chatbot
to Enterprise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  <a:latin typeface="Calibri"/>
              </a:rPr>
              <a:t>The 5-Pillar RAG Architecture transforms how enterprises interact with SAP S/4 HANA — securely, accurately, and across every master data domain.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C2"/>
                </a:solidFill>
                <a:latin typeface="Calibri"/>
              </a:rPr>
              <a:t>18+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  <a:latin typeface="Calibri"/>
              </a:rPr>
              <a:t>SAP Modules
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C2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  <a:latin typeface="Calibri"/>
              </a:rPr>
              <a:t>RAG Pillars
Orchestrated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C2"/>
                </a:solidFill>
                <a:latin typeface="Calibri"/>
              </a:rPr>
              <a:t>90K+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  <a:latin typeface="Calibri"/>
              </a:rPr>
              <a:t>Tables
Retrieved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C2"/>
                </a:solidFill>
                <a:latin typeface="Calibri"/>
              </a:rPr>
              <a:t>3-Layer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  <a:latin typeface="Calibri"/>
              </a:rPr>
              <a:t>Security
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2039112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Deploy Schema RAG for your core domain (BP or MM)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862072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Connect SAP HANA via PyRFC / OData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3685032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611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Seed SQL Library with your first 10 validated queries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4507992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Onboard 3 pilot roles for AuthContext testing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5330952"/>
            <a:ext cx="63500" cy="635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5257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Schedule a demo with your SAP Basis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  <a:latin typeface="Calibri"/>
              </a:rPr>
              <a:t>Know Your SAP Masters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