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27095520000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48472" y="0"/>
            <a:ext cx="69677280000" cy="62709552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2" cy="0"/>
          </a:xfrm>
          <a:prstGeom prst="round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BASIS TEAM — TECHNICAL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Know Your
SAP Masters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7AC2"/>
                </a:solidFill>
              </a:rPr>
              <a:t>5-Pillar RAG Architecture — Technical Deep-Dive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617720"/>
            <a:ext cx="3200400" cy="3483864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BA8"/>
                </a:solidFill>
              </a:rPr>
              <a:t>For SAP Basis, Data &amp; Integration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" y="1"/>
            <a:ext cx="3" cy="0"/>
          </a:xfrm>
          <a:prstGeom prst="round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P1 Role-Aware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" y="2"/>
            <a:ext cx="3" cy="0"/>
          </a:xfrm>
          <a:prstGeom prst="round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P2 Agentic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" y="3"/>
            <a:ext cx="3" cy="0"/>
          </a:xfrm>
          <a:prstGeom prst="round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P3 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" y="4"/>
            <a:ext cx="3" cy="0"/>
          </a:xfrm>
          <a:prstGeom prst="round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P4 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" y="5"/>
            <a:ext cx="3" cy="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P5 Graph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Basis Team Deck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Problem: Generic LLMs Fail on SAP S/4HANA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</a:rPr>
              <a:t>5 failure modes that require domain-specific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</a:rPr>
              <a:t>90,000+ DDIC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Schema RAG is mandatory — natural language cannot reliably map 'vendor' to LFA1 or 'pricing' to KONP without vector retrieval.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13432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13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</a:rPr>
              <a:t>SAP SQL Idioms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MANDT filters, LOEVM/LVORM deletion flags, ADD_DAYS(ZFBDT,ZBD3T) for overdue dates — LLMs hallucinate these without few-shot grounding.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92424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924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</a:rPr>
              <a:t>Cross-Module Joins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8503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'Which vendors supply Cost Center X?' requires MARA→EINA→LFA1→CSKS traversal — single-shot RAG misses this.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71416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4714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</a:rPr>
              <a:t>Authorization at SQL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764024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SAP's object-based security (BUKRS, WERKS, EKORG) must be a hard SQL WHERE constraint — not a prompt instruction.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50408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550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</a:rPr>
              <a:t>No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843016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Every generated SQL must be logged with user identity, SQL hash, auth context, and result rows for SOX compliance.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Basis Team Deck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5-Pillar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</a:rPr>
              <a:t>Layered defense for enterprise-grade SAP SQL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176272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176272" cy="64008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Role-Aware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965960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938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AuthContext enforcement at SQL level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063239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26663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Column masking &amp; row filtering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4160520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2394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Immutable audit ledger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5257800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2122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SOX-ready logging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42032" y="1188720"/>
            <a:ext cx="2176272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42032" y="1188720"/>
            <a:ext cx="2176272" cy="64008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3472" y="1234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146304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Agentic RAG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1965960"/>
            <a:ext cx="58064400000" cy="580644000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70632" y="192938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ReAct orchestration loop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063239"/>
            <a:ext cx="58064400000" cy="580644000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70632" y="3026663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Intent classification → tool routing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4160520"/>
            <a:ext cx="58064400000" cy="580644000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70632" y="412394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Self-correction on SQL errors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5257800"/>
            <a:ext cx="58064400000" cy="580644000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70632" y="522122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Domain agent routing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9744" y="1188720"/>
            <a:ext cx="2176272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09744" y="1188720"/>
            <a:ext cx="2176272" cy="64008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3" y="1234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01183" y="146304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Schema RAG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19472" y="1965960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4" y="192938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ChromaDB DDIC metadata retrieval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9472" y="3063239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38344" y="3026663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Domain-filtered vector search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19472" y="4160520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38344" y="412394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CDS View abstraction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19472" y="5257800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38344" y="522122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Auto-trigger on empty result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77455" y="1188720"/>
            <a:ext cx="2176272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77455" y="1188720"/>
            <a:ext cx="2176272" cy="64008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68895" y="1234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8895" y="146304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SQL RAG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87183" y="1965960"/>
            <a:ext cx="58064400000" cy="580644000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06055" y="192938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68+ proven SAP SQL patterns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87183" y="3063239"/>
            <a:ext cx="58064400000" cy="580644000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06055" y="3026663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MANDT/LOEVM idiom injection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87183" y="4160520"/>
            <a:ext cx="58064400000" cy="580644000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06055" y="412394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Performance-aware query library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87183" y="5257800"/>
            <a:ext cx="58064400000" cy="580644000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06055" y="522122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Hot-reloadable patterns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45168" y="1188720"/>
            <a:ext cx="2176272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45168" y="1188720"/>
            <a:ext cx="2176272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36608" y="1234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36608" y="146304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Graph RAG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54896" y="1965960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73768" y="192938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NetworkX cross-module traversal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54896" y="3063239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73768" y="3026663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14 meta-paths (vendor, O2C, P2P)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54896" y="4160520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73768" y="412394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Node2Vec structural embeddings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54896" y="5257800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73768" y="522122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Temporal validity filters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Basis Team Deck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Pillar 1: Role-Aware RAG — 3-Layer Security Mesh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</a:rPr>
              <a:t>Every query intercepted, validated, and audited before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657600" cy="109728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1: Prompt 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</a:rPr>
              <a:t>AuthContext hardcoded into LLM system prompt.
BUKRS/WERKS/EKORG allowed values + masked columns.
LLM cannot 'forget' — structurally enforced at prompt level.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34440"/>
            <a:ext cx="3657600" cy="109728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2: SQL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62763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</a:rPr>
              <a:t>sqlglot parses generated SQL pre-execution.
Verifies WHERE clauses exist for restricted fields.
Blocks INSERT/UPDATE/DELETE and restricted columns.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234440"/>
            <a:ext cx="3657600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3: Response Masking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62763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</a:rPr>
              <a:t>Post-execution field redaction.
Bank accounts, SSNs, salary data stripped.
Final markdown sanitized before user display.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0.35" y="2.75"/>
          <a:ext cx="11521440" cy="2.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926080"/>
                <a:gridCol w="2743200"/>
                <a:gridCol w="265176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00B0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SAP Auth Object</a:t>
                      </a:r>
                    </a:p>
                  </a:txBody>
                  <a:tcPr>
                    <a:solidFill>
                      <a:srgbClr val="00B0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Maps to Column</a:t>
                      </a:r>
                    </a:p>
                  </a:txBody>
                  <a:tcPr>
                    <a:solidFill>
                      <a:srgbClr val="00B0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Filter Applied</a:t>
                      </a:r>
                    </a:p>
                  </a:txBody>
                  <a:tcPr>
                    <a:solidFill>
                      <a:srgbClr val="00B0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Finance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F_BKPF_BUK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BUKRS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WHERE BUKRS IN (...)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Material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M_MATE_WRK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WERKS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WHERE WERKS IN (...)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Purchasing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M_BEST_EKO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EKORG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WHERE EKORG IN (...)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V_VBAK_VKO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VKORG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WHERE VKORG IN (...)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BP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F_LFA1_BUK / F_KNA1_BUK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BUKRS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WHERE BUKRS IN (...)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20040" y="2395728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D4A"/>
                </a:solidFill>
              </a:rPr>
              <a:t>SAP Authorization Object → SQL WHERE Filter Mapping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Basis Team Deck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Pillar 2: Agentic RAG — ReAct Orchestration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</a:rPr>
              <a:t>The autonomous brain: plan → retrieve → validate → self-correct → execute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19" y="-23223976920"/>
            <a:ext cx="109728" cy="464515200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0" y="1"/>
            <a:ext cx="1" cy="1"/>
          </a:xfrm>
          <a:prstGeom prst="round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USER
QUERY</a:t>
            </a:r>
            <a:r>
              <a:rPr sz="800" i="1">
                <a:solidFill>
                  <a:srgbClr val="FFFFFF"/>
                </a:solidFill>
              </a:rPr>
              <a:t>
Intent Classification
&amp; Decomposition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-23223976920"/>
            <a:ext cx="109728" cy="464515200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" y="1"/>
            <a:ext cx="1" cy="1"/>
          </a:xfrm>
          <a:prstGeom prst="roundRect">
            <a:avLst/>
          </a:prstGeom>
          <a:solidFill>
            <a:srgbClr val="4A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AUTH
CHECK</a:t>
            </a:r>
            <a:r>
              <a:rPr sz="800" i="1">
                <a:solidFill>
                  <a:srgbClr val="FFFFFF"/>
                </a:solidFill>
              </a:rPr>
              <a:t>
get_auth_context()
Role-Aware Pillar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-23223976920"/>
            <a:ext cx="109728" cy="464515200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" y="1"/>
            <a:ext cx="1" cy="1"/>
          </a:xfrm>
          <a:prstGeom prst="round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SCHEMA
RAG</a:t>
            </a:r>
            <a:r>
              <a:rPr sz="800" i="1">
                <a:solidFill>
                  <a:srgbClr val="FFFFFF"/>
                </a:solidFill>
              </a:rPr>
              <a:t>
search_schema()
Pillar 3 — ChromaDB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52743" y="-23223976920"/>
            <a:ext cx="109728" cy="464515200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" y="1"/>
            <a:ext cx="1" cy="1"/>
          </a:xfrm>
          <a:prstGeom prst="round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SQL
RAG</a:t>
            </a:r>
            <a:r>
              <a:rPr sz="800" i="1">
                <a:solidFill>
                  <a:srgbClr val="FFFFFF"/>
                </a:solidFill>
              </a:rPr>
              <a:t>
get_sql_patterns()
Pillar 4 — Few-shot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19" y="-23222468160"/>
            <a:ext cx="109728" cy="464515200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0" y="3"/>
            <a:ext cx="1" cy="1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GRAPH
RAG</a:t>
            </a:r>
            <a:r>
              <a:rPr sz="800" i="1">
                <a:solidFill>
                  <a:srgbClr val="FFFFFF"/>
                </a:solidFill>
              </a:rPr>
              <a:t>
traverse_graph()
Pillar 5 — NetworkX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-23222468160"/>
            <a:ext cx="109728" cy="464515200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" y="3"/>
            <a:ext cx="1" cy="1"/>
          </a:xfrm>
          <a:prstGeom prst="round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SQL
GEN</a:t>
            </a:r>
            <a:r>
              <a:rPr sz="800" i="1">
                <a:solidFill>
                  <a:srgbClr val="FFFFFF"/>
                </a:solidFill>
              </a:rPr>
              <a:t>
LLM → HANA SQL
+ Auth Filters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17136" y="-23222468160"/>
            <a:ext cx="109728" cy="464515200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" y="3"/>
            <a:ext cx="1" cy="1"/>
          </a:xfrm>
          <a:prstGeom prst="round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EXECUTE
&amp; VALIDATE</a:t>
            </a:r>
            <a:r>
              <a:rPr sz="800" i="1">
                <a:solidFill>
                  <a:srgbClr val="FFFFFF"/>
                </a:solidFill>
              </a:rPr>
              <a:t>
execute_hana_sql()
Self-Correction Loop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" y="3"/>
            <a:ext cx="1" cy="1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FINAL
ANSWER</a:t>
            </a:r>
            <a:r>
              <a:rPr sz="800" i="1">
                <a:solidFill>
                  <a:srgbClr val="FFFFFF"/>
                </a:solidFill>
              </a:rPr>
              <a:t>
Natural Language
Response to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7947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D4A"/>
                </a:solidFill>
              </a:rPr>
              <a:t>Agent Tool Ecosystem (34 tools registered)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69663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</a:rPr>
              <a:t>get_auth_context()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114800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Fetches user BUKRS/WERKS/EKORG scope from SAP Auth Profile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626864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</a:rPr>
              <a:t>search_schema()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572000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ChromaDB retrieval — DDIC metadata, tables, columns, descriptions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084064"/>
            <a:ext cx="58064400000" cy="580644000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0292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</a:rPr>
              <a:t>get_sql_patterns()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029200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Few-shot proven SQL templates — MANDT, LOEVM, join idioms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541264"/>
            <a:ext cx="58064400000" cy="580644000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</a:rPr>
              <a:t>traverse_graph()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486400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NetworkX shortest-path between SAP tables across modules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998464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9436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</a:rPr>
              <a:t>execute_hana_sql()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943600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Runs validated SQL on HANA, returns results or error for retry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455664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</a:rPr>
              <a:t>schema_auto_discover()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6400800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Fires when ChromaDB returns empty — reads DD08L for FK relationships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Basis Team Deck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Pillar 3: Schema RAG — DDIC to ChromaDB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</a:rPr>
              <a:t>From 90,000 SAP tables to lean, retrieved context windows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"/>
            <a:ext cx="2" cy="1"/>
          </a:xfrm>
          <a:prstGeom prst="round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SAP DDIC
Extraction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
DD02L / DD03L / DD08L
PyRFC / OData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920240"/>
            <a:ext cx="256032" cy="464515200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" y="1"/>
            <a:ext cx="2" cy="1"/>
          </a:xfrm>
          <a:prstGeom prst="roundRect">
            <a:avLst/>
          </a:prstGeom>
          <a:solidFill>
            <a:srgbClr val="00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Document
Enrichment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
JSON schema docs:
tables + columns + join paths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25312" y="1920240"/>
            <a:ext cx="256032" cy="464515200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" y="1"/>
            <a:ext cx="2" cy="1"/>
          </a:xfrm>
          <a:prstGeom prst="roundRect">
            <a:avLst/>
          </a:prstGeom>
          <a:solidFill>
            <a:srgbClr val="004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Embedding
&amp; Index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
all-MiniLM-L6-v2
→ ChromaDB collection
sap_master_schemas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33104" y="1920240"/>
            <a:ext cx="256032" cy="464515200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" y="1"/>
            <a:ext cx="2" cy="1"/>
          </a:xfrm>
          <a:prstGeom prst="round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Runtime
Retrieval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
search_schema(query,
module, top_k=3)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0.35" y="3.1"/>
          <a:ext cx="11521440" cy="3.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10896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E87D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Core Tables</a:t>
                      </a:r>
                    </a:p>
                  </a:txBody>
                  <a:tcPr>
                    <a:solidFill>
                      <a:srgbClr val="E87D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Vector Filter</a:t>
                      </a:r>
                    </a:p>
                  </a:txBody>
                  <a:tcPr>
                    <a:solidFill>
                      <a:srgbClr val="E87D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Material (MM)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MARA, MARC, MARD, MBEW, MVKE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module=MM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Business Partner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BUT000, LFA1, KNA1, ADRC, BUT100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module=BP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Purchasing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EINA, EINE, EORD, EKKO, EKPO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module=MM-PUR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Sales &amp; Distribution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VBAK, VBAP, KONV, KNVV, TVRO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module=SD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Finance / CO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SKA1, SKB1, CSKS, CEPC, ANLA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module=FI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Quality Mgmt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QMAT, QPAC, PLMK, MAPL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module=QM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Project System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PROJ, PRPS, AFVC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module=PS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Basis Team Deck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Pillar 4: SQL RAG — Few-Shot Pattern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</a:rPr>
              <a:t>Grounding LLMs in proven SAP HANA SQL idioms instead of generating from scratch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394960" cy="41148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Critical SAP Idioms LLMs Miss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8064400000" cy="580644000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MANDT (Client) filter — LLM hallucination target #1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58064400000" cy="580644000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Module-specific deletion flags — LOEVM, LVORM, LVOMA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58064400000" cy="580644000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Header/Item join patterns — VBAK→VBAP→KONV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80"/>
            <a:ext cx="58064400000" cy="580644000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Index-aware join order — BUKRS first on BSEG/MSEG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58064400000" cy="580644000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Business logic — ADD_DAYS(ZFBDT, ZBD3T) for overdue dates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.45" y="1.35"/>
          <a:ext cx="5989320" cy="5.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560320"/>
                <a:gridCol w="1554480"/>
                <a:gridCol w="105156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Query ID</a:t>
                      </a:r>
                    </a:p>
                  </a:txBody>
                  <a:tcPr>
                    <a:solidFill>
                      <a:srgbClr val="CC2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Intent / Business Question</a:t>
                      </a:r>
                    </a:p>
                  </a:txBody>
                  <a:tcPr>
                    <a:solidFill>
                      <a:srgbClr val="CC2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Tables</a:t>
                      </a:r>
                    </a:p>
                  </a:txBody>
                  <a:tcPr>
                    <a:solidFill>
                      <a:srgbClr val="CC2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CC29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MAT-001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Show material base details and weight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MARA, MAKT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MAT-003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Current stock for material in plant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MARD, MARC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SLS-001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Sales order header and status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VBAK, VBUK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SLS-002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Items and pricing for sales order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VBAP, KONV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FIN-001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G/L account details for company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SKA1, SKB1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FI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FIN-002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Open vendor items (overdue)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BSIK, LFA1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FI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PUR-001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Open POs for a specific vendor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EKKO, EKPO, LFA1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MM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BP-001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Vendor bank and payment terms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LFA1, LFB1, LFBK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BP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897880" y="6446520"/>
            <a:ext cx="5989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68+ SQL Patterns Seeded Across 18 Domains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Basis Team Deck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Pillar 5: Graph RAG — NetworkX Multi-Hop Traversal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</a:rPr>
              <a:t>Finding join paths that Schema RAG cannot reach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4"/>
            <a:ext cx="1" cy="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LFA1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Vendor Master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" y="3"/>
            <a:ext cx="1" cy="0"/>
          </a:xfrm>
          <a:prstGeom prst="roundRect">
            <a:avLst/>
          </a:prstGeom>
          <a:solidFill>
            <a:srgbClr val="007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EINA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Purchasing
Info 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" y="4"/>
            <a:ext cx="1" cy="0"/>
          </a:xfrm>
          <a:prstGeom prst="roundRect">
            <a:avLst/>
          </a:prstGeom>
          <a:solidFill>
            <a:srgbClr val="006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MARA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Material Master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" y="3"/>
            <a:ext cx="1" cy="0"/>
          </a:xfrm>
          <a:prstGeom prst="roundRect">
            <a:avLst/>
          </a:prstGeom>
          <a:solidFill>
            <a:srgbClr val="004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CSKS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Cost Center
Master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4297680"/>
            <a:ext cx="365760" cy="3483864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5262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009688"/>
                </a:solidFill>
              </a:rPr>
              <a:t>LIFNR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297680"/>
            <a:ext cx="365760" cy="3483864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45262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009688"/>
                </a:solidFill>
              </a:rPr>
              <a:t>MATNR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3246120"/>
            <a:ext cx="274320" cy="3483864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3520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009688"/>
                </a:solidFill>
              </a:rPr>
              <a:t>MATNR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3611880"/>
            <a:ext cx="274320" cy="3483864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154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009688"/>
                </a:solidFill>
              </a:rPr>
              <a:t>KOSGR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234440"/>
            <a:ext cx="539496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1234440"/>
            <a:ext cx="539496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NetworkX Graph — Cross-Module Edges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97880" y="1234440"/>
            <a:ext cx="59893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97880" y="1234440"/>
            <a:ext cx="598932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14 Meta-Paths — Precomputed JOIN Templates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828800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Procurement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C2D4A"/>
                </a:solidFill>
              </a:rPr>
              <a:t>Material → Vendor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1783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MARA → EINA → LFA1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2606039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560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Sales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2834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C2D4A"/>
                </a:solidFill>
              </a:rPr>
              <a:t>Material → Customer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560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MARA → KNMT → KNA1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3383279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337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Costing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611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C2D4A"/>
                </a:solidFill>
              </a:rPr>
              <a:t>Material → Cost Center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337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MARA → MARC → MBEW → CSKS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4160520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C2D4A"/>
                </a:solidFill>
              </a:rPr>
              <a:t>Material → Inspection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1148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MARA → MAPL → PLMK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4937759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892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Finance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1663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C2D4A"/>
                </a:solidFill>
              </a:rPr>
              <a:t>Vendor → G/L Account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892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LFA1 → BSIK → HKONT → SKA1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89320" y="5715000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5669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Project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C2D4A"/>
                </a:solidFill>
              </a:rPr>
              <a:t>Material → WBS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669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MARA → RESB → PRPS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Basis Team Deck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Phase 7: Temporal Engine — Longitudinal Corporate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</a:rPr>
              <a:t>SAP data from 2005 becomes a living, queryable brain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760720" cy="41148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FiscalYearEngine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464515200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59" y="173736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4 calendar variants (4-4-5, 4-5-4, etc.)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58568"/>
            <a:ext cx="464515200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" y="221284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Multi-FY parsing (FY2020–FY2024)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464515200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59" y="268833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FY comparison SQL (YoY, 3-year CAGR)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9544"/>
            <a:ext cx="464515200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59" y="3163824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SAP posting date → fiscal period mapping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23444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4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234440"/>
            <a:ext cx="5760720" cy="41148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280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TimeSeriesAggregator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783080"/>
            <a:ext cx="46451520000" cy="464515200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173736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MONTHLY / QUARTERLY / YEARLY granularity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258568"/>
            <a:ext cx="46451520000" cy="464515200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21284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Rolling 3-period averages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734056"/>
            <a:ext cx="46451520000" cy="464515200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268833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Period-over-period delta (absolute + 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209544"/>
            <a:ext cx="46451520000" cy="464515200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3163824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Trend detection for spend anomalies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8620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886200"/>
            <a:ext cx="5760720" cy="41148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319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SupplierPerformanceIndex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434840"/>
            <a:ext cx="46451520000" cy="4645152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59" y="438912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Delivery reliability: EKKO/EKET/MSEG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10328"/>
            <a:ext cx="46451520000" cy="4645152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59" y="486460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Quality: QALS UD codes (0=accepted)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85816"/>
            <a:ext cx="46451520000" cy="4645152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59" y="534009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Price competitiveness: EINA/EINE history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861303"/>
            <a:ext cx="46451520000" cy="4645152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59" y="5815583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Composite 0-100 score per vendor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88620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886200"/>
            <a:ext cx="576072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9319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CustomerLifetimeValueEngine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434840"/>
            <a:ext cx="46451520000" cy="4645152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59" y="438912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Revenue: VBAP-NETWR over 3yr window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910328"/>
            <a:ext cx="46451520000" cy="4645152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59" y="486460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Discount sensitivity: KONV KB01/K007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5385816"/>
            <a:ext cx="46451520000" cy="4645152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59" y="534009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Payment behavior: BSID vs KNVV-ZAHLS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5861303"/>
            <a:ext cx="46451520000" cy="4645152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59" y="5815583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Churn signal: 90-day order gap → flag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8 Historical Events Tagged: 2008 Crisis · 2011 Euro · 2015 China · COVID-19 · 2021 Supply Chain · 2022 Inflation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Basis Team Deck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Phase 8: QM Semantic + Negotiation + Confidence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</a:rPr>
              <a:t>Domain intelligence that generic agents cannot match out-of-the-box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7607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760720" cy="41148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QM Semantic 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46451520000" cy="4645152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20-year QM notification long-text embeddings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46451520000" cy="4645152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ChromaDB collection: chroma_qm_db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46451520000" cy="4645152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603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QMEL-LONGTEXT semantic similarity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46451520000" cy="4645152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97180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Fires on: inspection, defect, complaint keywords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11880"/>
            <a:ext cx="57607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611880"/>
            <a:ext cx="57607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Negotiation Briefing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60520"/>
            <a:ext cx="46451520000" cy="464515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11480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CLV Tier: GOLD / SILVER / BRONZE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46451520000" cy="464515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52628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PSI Score, Churn Risk, BATNA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83480"/>
            <a:ext cx="46451520000" cy="464515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93776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Target price increase + acceptance floor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94959"/>
            <a:ext cx="46451520000" cy="464515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34924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Top tactic selection from 8-strategy library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234440"/>
            <a:ext cx="55778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1234440"/>
            <a:ext cx="5577840" cy="41148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6-Signal Confidence Score (Fully Auditable)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783080"/>
            <a:ext cx="822960" cy="32004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783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critique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1783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C2"/>
                </a:solidFill>
              </a:rPr>
              <a:t>wt=30%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17830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SQL gatekeeper — 7-point check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514600"/>
            <a:ext cx="822960" cy="32004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5146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result_density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25146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C2"/>
                </a:solidFill>
              </a:rPr>
              <a:t>wt=25%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25146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Rows returned vs. table size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246120"/>
            <a:ext cx="822960" cy="32004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2461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routing_path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3246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C2"/>
                </a:solidFill>
              </a:rPr>
              <a:t>wt=15%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32461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Meta-path fast path vs. full RAG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977640"/>
            <a:ext cx="822960" cy="32004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9776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self_heal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3977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C2"/>
                </a:solidFill>
              </a:rPr>
              <a:t>wt=10%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3977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Self-healer applied (Y/N)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709160"/>
            <a:ext cx="822960" cy="32004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7091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temporal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47091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C2"/>
                </a:solidFill>
              </a:rPr>
              <a:t>wt=10%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47091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Temporal engine triggered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5440680"/>
            <a:ext cx="822960" cy="32004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4406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schema_breadth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80" y="54406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C2"/>
                </a:solidFill>
              </a:rPr>
              <a:t>wt=10%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54406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Number of tables involved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62636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Example: composite=0.83 | critique:0.86 | density:0.91 | routing:1.00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Basis Team Deck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SAP Joule vs. Know Your SAP Masters — 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</a:rPr>
              <a:t>Where our build matches, exceeds, or complements SAP native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0.35" y="1.35"/>
          <a:ext cx="11521440" cy="5.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840480"/>
                <a:gridCol w="3840480"/>
                <a:gridCol w="155448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1A37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SAP Joule / Business AI</a:t>
                      </a:r>
                    </a:p>
                  </a:txBody>
                  <a:tcPr>
                    <a:solidFill>
                      <a:srgbClr val="1A37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Know Your SAP Masters</a:t>
                      </a:r>
                    </a:p>
                  </a:txBody>
                  <a:tcPr>
                    <a:solidFill>
                      <a:srgbClr val="1A37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Advantage</a:t>
                      </a:r>
                    </a:p>
                  </a:txBody>
                  <a:tcPr>
                    <a:solidFill>
                      <a:srgbClr val="1A37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Auth Model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SAP AuthContext (RFC-based)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SAPAuthContext class (same concept)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2D4A"/>
                          </a:solidFill>
                        </a:rPr>
                        <a:t>Parity</a:t>
                      </a:r>
                    </a:p>
                  </a:txBody>
                  <a:tcPr>
                    <a:solidFill>
                      <a:srgbClr val="8A9B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Column Masking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AuthObject-based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result_mask() per role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2D4A"/>
                          </a:solidFill>
                        </a:rPr>
                        <a:t>Parity</a:t>
                      </a:r>
                    </a:p>
                  </a:txBody>
                  <a:tcPr>
                    <a:solidFill>
                      <a:srgbClr val="8A9B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Tool Registry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2,100+ AI Skills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34+ tools in TOOL_REGISTRY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2D4A"/>
                          </a:solidFill>
                        </a:rPr>
                        <a:t>SAP (scale)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Self-Correction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Implicit 'reflection'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10 explicit SQL repair rules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2D4A"/>
                          </a:solidFill>
                        </a:rPr>
                        <a:t>Us (auditable)</a:t>
                      </a:r>
                    </a:p>
                  </a:txBody>
                  <a:tcPr>
                    <a:solidFill>
                      <a:srgbClr val="D5F5D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Schema Retrieval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SAP Knowledge Graph (proprietary)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ChromaDB — swap-in-place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2D4A"/>
                          </a:solidFill>
                        </a:rPr>
                        <a:t>Parity</a:t>
                      </a:r>
                    </a:p>
                  </a:txBody>
                  <a:tcPr>
                    <a:solidFill>
                      <a:srgbClr val="8A9B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SQL Patterns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Workflow-level skills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Executable HANA SQL patterns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2D4A"/>
                          </a:solidFill>
                        </a:rPr>
                        <a:t>Us (SQL layer)</a:t>
                      </a:r>
                    </a:p>
                  </a:txBody>
                  <a:tcPr>
                    <a:solidFill>
                      <a:srgbClr val="D5F5D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Graph Traversal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Enterprise graph (generic)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14 meta-paths + Node2Vec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2D4A"/>
                          </a:solidFill>
                        </a:rPr>
                        <a:t>Us (domain depth)</a:t>
                      </a:r>
                    </a:p>
                  </a:txBody>
                  <a:tcPr>
                    <a:solidFill>
                      <a:srgbClr val="D5F5D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Temporal Engine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Date-effective tables (SAP native)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Temporal engine + SQL filter gen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2D4A"/>
                          </a:solidFill>
                        </a:rPr>
                        <a:t>Parity</a:t>
                      </a:r>
                    </a:p>
                  </a:txBody>
                  <a:tcPr>
                    <a:solidFill>
                      <a:srgbClr val="8A9B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Confidence Score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Black-box 'reflection'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6-signal explicit breakdown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2D4A"/>
                          </a:solidFill>
                        </a:rPr>
                        <a:t>Us (auditable)</a:t>
                      </a:r>
                    </a:p>
                  </a:txBody>
                  <a:tcPr>
                    <a:solidFill>
                      <a:srgbClr val="D5F5D5"/>
                    </a:solidFill>
                  </a:tcPr>
                </a:tc>
              </a:tr>
              <a:tr h="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CDS Views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Native S/4HANA Cloud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D4A"/>
                          </a:solidFill>
                        </a:rPr>
                        <a:t>Phase roadmap item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2D4A"/>
                          </a:solidFill>
                        </a:rPr>
                        <a:t>SAP (cloud-ready)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Basis Team Deck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Self-Healer — 10 Autonomous SQL Repair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</a:rPr>
              <a:t>Fires at three trigger points: critique FAIL · validation ERROR · execution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760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2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411480" cy="96012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34440"/>
            <a:ext cx="411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92A"/>
                </a:solidFill>
              </a:rPr>
              <a:t>Missing MANDT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8191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If MANDT not in WHERE → auto-inject MANDT='800'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5760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2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411480" cy="96012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34440"/>
            <a:ext cx="411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1280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92A"/>
                </a:solidFill>
              </a:rPr>
              <a:t>Missing LOEVM_K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158191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If vendor table and no LOEVM_K → append AND LOEVM_K = ''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86000"/>
            <a:ext cx="5760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2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286000"/>
            <a:ext cx="411480" cy="96012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86000"/>
            <a:ext cx="411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3317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92A"/>
                </a:solidFill>
              </a:rPr>
              <a:t>Wrong date 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63347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If date literal not YYYYMMDD → convert using DATS_CAST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286000"/>
            <a:ext cx="5760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2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286000"/>
            <a:ext cx="411480" cy="96012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286000"/>
            <a:ext cx="411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23317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92A"/>
                </a:solidFill>
              </a:rPr>
              <a:t>Missing index column in JOIN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263347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If BUKRS not first in BSEG join → reorder to BUKRS first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337560"/>
            <a:ext cx="5760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2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337560"/>
            <a:ext cx="411480" cy="96012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337560"/>
            <a:ext cx="411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38327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92A"/>
                </a:solidFill>
              </a:rPr>
              <a:t>Duplicate column in SELECT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68503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sqlglot AST parse → deduplicate SELECT list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337560"/>
            <a:ext cx="5760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2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337560"/>
            <a:ext cx="411480" cy="96012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337560"/>
            <a:ext cx="411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338327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92A"/>
                </a:solidFill>
              </a:rPr>
              <a:t>N+1 subquery detected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59" y="368503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If correlated subquery on MSEG → rewrite as JOIN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389120"/>
            <a:ext cx="5760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2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389120"/>
            <a:ext cx="411480" cy="96012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389120"/>
            <a:ext cx="411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434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92A"/>
                </a:solidFill>
              </a:rPr>
              <a:t>Missing WHERE on restricted field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73659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If BUKRS not in WHERE → inject AuthContext BUKRS filter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389120"/>
            <a:ext cx="5760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2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389120"/>
            <a:ext cx="411480" cy="96012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4389120"/>
            <a:ext cx="411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59" y="4434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92A"/>
                </a:solidFill>
              </a:rPr>
              <a:t>Syntax error — quote mismatch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59" y="473659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If single-quote orphan → escape or wrap with REGEX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440679"/>
            <a:ext cx="5760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2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440679"/>
            <a:ext cx="411480" cy="96012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5440679"/>
            <a:ext cx="411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48639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92A"/>
                </a:solidFill>
              </a:rPr>
              <a:t>Execution timeout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788151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If query &gt; 30s → inject HINT (NO_PARALLEL) and rerun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5440679"/>
            <a:ext cx="5760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2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63640" y="5440679"/>
            <a:ext cx="411480" cy="96012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5440679"/>
            <a:ext cx="411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59" y="548639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92A"/>
                </a:solidFill>
              </a:rPr>
              <a:t>Empty result — wrong table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59" y="5788151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If 0 rows and schema confidence &lt; 0.5 → trigger schema_auto_discover()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Basis Team Deck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Implementation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</a:rPr>
              <a:t>Build fast, add cross-module intelligence incrementally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8346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834640" cy="96012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A623"/>
                </a:solidFill>
              </a:rPr>
              <a:t>Weeks 1–4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361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Isolated Master Data Foundations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386584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Schema RAG + SQL RAG for BP, Material, Finance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3346703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91839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Role-Aware RAG core — AuthContext service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4306824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Agentic Orchestrator — basic ReAct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266944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1208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Fast win: Chat with single-domain tables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234440"/>
            <a:ext cx="28346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234440"/>
            <a:ext cx="2834640" cy="96012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A623"/>
                </a:solidFill>
              </a:rPr>
              <a:t>Weeks 5–8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15361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Cross-Module via Graph RAG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55848" y="2386584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233172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NetworkX graph construction from DD08L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5848" y="3346703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3291839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Graph RAG for MM→BP→FI join paths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5848" y="4306824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25196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Multi-hop Q&amp;A: MARA→EINA→LFA1→CSKS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55848" y="5266944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521208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CDS View abstraction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234440"/>
            <a:ext cx="28346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234440"/>
            <a:ext cx="2834640" cy="960120"/>
          </a:xfrm>
          <a:prstGeom prst="rect">
            <a:avLst/>
          </a:prstGeom>
          <a:solidFill>
            <a:srgbClr val="006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A623"/>
                </a:solidFill>
              </a:rPr>
              <a:t>Weeks 9–11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15361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Transactional Data Integration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7648" y="2386584"/>
            <a:ext cx="58064400000" cy="58064400000"/>
          </a:xfrm>
          <a:prstGeom prst="rect">
            <a:avLst/>
          </a:prstGeom>
          <a:solidFill>
            <a:srgbClr val="006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33172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Extend to PO, Invoice, Material Docs, JEs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27648" y="3346703"/>
            <a:ext cx="58064400000" cy="58064400000"/>
          </a:xfrm>
          <a:prstGeom prst="rect">
            <a:avLst/>
          </a:prstGeom>
          <a:solidFill>
            <a:srgbClr val="006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3291839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High-volume table support: EKKO/EKPO, BSEG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27648" y="4306824"/>
            <a:ext cx="58064400000" cy="58064400000"/>
          </a:xfrm>
          <a:prstGeom prst="rect">
            <a:avLst/>
          </a:prstGeom>
          <a:solidFill>
            <a:srgbClr val="006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25196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SQL Library expansion — aggregation patterns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7648" y="5266944"/>
            <a:ext cx="58064400000" cy="58064400000"/>
          </a:xfrm>
          <a:prstGeom prst="rect">
            <a:avLst/>
          </a:prstGeom>
          <a:solidFill>
            <a:srgbClr val="006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521208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Response masking refinement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89720" y="1234440"/>
            <a:ext cx="28346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89720" y="1234440"/>
            <a:ext cx="283464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116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A623"/>
                </a:solidFill>
              </a:rPr>
              <a:t>Weeks 12–14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15361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Production Polish &amp; Audit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99448" y="2386584"/>
            <a:ext cx="58064400000" cy="5806440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233172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Immutable audit ledger — SOX ready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99448" y="3346703"/>
            <a:ext cx="58064400000" cy="5806440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3291839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UAT with distinct persona roles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99448" y="4306824"/>
            <a:ext cx="58064400000" cy="5806440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425196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Performance benchmarking &amp; optimization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99448" y="5266944"/>
            <a:ext cx="58064400000" cy="5806440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20" y="521208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Production deployment &amp; monitoring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Basis Team Deck  | 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27095520000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48472" y="0"/>
            <a:ext cx="69677280000" cy="62709552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3200400" cy="3483864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Built for Basis Teams
Who Demand Auditability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</a:rPr>
              <a:t>5-Pillar RAG gives your Basis team SQL-level visibility, role-level security enforcement, and a fully auditable confidence score on every query.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C2"/>
                </a:solidFill>
              </a:rPr>
              <a:t>34+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8"/>
                </a:solidFill>
              </a:rPr>
              <a:t>Tools in
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206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C2"/>
                </a:solidFill>
              </a:rPr>
              <a:t>68+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8"/>
                </a:solidFill>
              </a:rPr>
              <a:t>SQL Patterns
Seeded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206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C2"/>
                </a:solidFill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8"/>
                </a:solidFill>
              </a:rPr>
              <a:t>Meta-Paths
Defined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206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C2"/>
                </a:solidFill>
              </a:rPr>
              <a:t>6-Signal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8"/>
                </a:solidFill>
              </a:rPr>
              <a:t>Confidence
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Immediate Next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2039112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Deploy Schema RAG for vendor master (LFA1 domain)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2862072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2788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Connect real SAP HANA via PyRFC / hdbcli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3685032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36118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Seed first 10 validated SQL patterns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4507992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4434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Onboard AP_CLERK and BUYER roles for AuthContext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5330952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5257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Run integration test suite (pytest)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Basis Team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