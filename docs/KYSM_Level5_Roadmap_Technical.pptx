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0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1097280" cy="109728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002D72"/>
                </a:solidFill>
                <a:latin typeface="Montserrat"/>
              </a:rPr>
              <a:t>NRL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ontserrat"/>
              </a:rPr>
              <a:t>Know Your SAP Masters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D100"/>
                </a:solidFill>
                <a:latin typeface="Montserrat"/>
              </a:rPr>
              <a:t>Level-5 Technical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F"/>
                </a:solidFill>
                <a:latin typeface="Open Sans"/>
              </a:rPr>
              <a:t>5-Pillar RAG • 13-Phase Execution • Multi-Agent Swarm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DD"/>
                </a:solidFill>
                <a:latin typeface="Open Sans"/>
              </a:rPr>
              <a:t>April 15, 2026  |  For Technical 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D100"/>
                </a:solidFill>
                <a:latin typeface="Montserrat"/>
              </a:rPr>
              <a:t>Energy in Motion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88952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46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D100"/>
                </a:solidFill>
                <a:latin typeface="Open Sans"/>
              </a:rPr>
              <a:t>What we will cover in this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82880"/>
            <a:ext cx="594360" cy="5943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02D72"/>
                </a:solidFill>
                <a:latin typeface="Montserrat"/>
              </a:rPr>
              <a:t>NRL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029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Open Sans"/>
              </a:rPr>
              <a:t>8 sections — ~15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4300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Montserrat"/>
              </a:rPr>
              <a:t>Numaligarh Refinery Limited | Internal Use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82880"/>
            <a:ext cx="594360" cy="5943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02D72"/>
                </a:solidFill>
                <a:latin typeface="Montserrat"/>
              </a:rPr>
              <a:t>NRL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Montserrat"/>
              </a:rPr>
              <a:t>Slide 2 of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4173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Open Sans"/>
              </a:rPr>
              <a:t>  ▸  5-Pillar RAG Architecture — what it is and 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856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Open Sans"/>
              </a:rPr>
              <a:t>  ▸  13-Phase Execution Roadmap — every phase from meta-path to result masking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29514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Open Sans"/>
              </a:rPr>
              <a:t>  ▸  Infrastructure Stack — Qdrant, Memgraph, Redis, RabbitMQ, Celery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73405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Open Sans"/>
              </a:rPr>
              <a:t>  ▸  Memgraph Migration M1–M7 — from in-memory NetworkX to distributed Cypher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729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Open Sans"/>
              </a:rPr>
              <a:t>  ▸  Harness Engineering — Deep Harnessing, Memory Compounding, Threat Sentinel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6118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Open Sans"/>
              </a:rPr>
              <a:t>  ▸  Multi-Agent Domain Swarm — 7 domain agents, Planner, Synthesis, Message 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050791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Open Sans"/>
              </a:rPr>
              <a:t>  ▸  Pending Work — Real SAP HANA, BAPI Workflows, Benchmark 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48970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Open Sans"/>
              </a:rPr>
              <a:t>  ▸  Key Files &amp; Code References — for engineers joining the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029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5-Pillar RAG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Open Sans"/>
              </a:rPr>
              <a:t>Core security + orchestration + retrieval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4300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Montserrat"/>
              </a:rPr>
              <a:t>Numaligarh Refinery Limited | Internal Use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82880"/>
            <a:ext cx="594360" cy="5943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02D72"/>
                </a:solidFill>
                <a:latin typeface="Montserrat"/>
              </a:rPr>
              <a:t>NRL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Montserrat"/>
              </a:rPr>
              <a:t>Slide 3 of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548640" cy="3474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" y="13258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Pillar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325880"/>
            <a:ext cx="1645920" cy="3474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32588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1325880"/>
            <a:ext cx="7132320" cy="3474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325880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Component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20" y="1325880"/>
            <a:ext cx="1005840" cy="3474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3258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673352"/>
            <a:ext cx="54864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9" y="16733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1673352"/>
            <a:ext cx="16459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6733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Role-Aware Security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1673352"/>
            <a:ext cx="71323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1673352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security.py — SAPAuthContext, row/column masking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20" y="1673352"/>
            <a:ext cx="100584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16733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A00"/>
                </a:solidFill>
                <a:latin typeface="Open Sans"/>
              </a:rPr>
              <a:t>✅ Working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020824"/>
            <a:ext cx="548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59" y="202082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2020824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20208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Agentic Orchestrator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2020824"/>
            <a:ext cx="7132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0" y="2020824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orchestrator.py — 10-step run_agent_loop()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6920" y="2020824"/>
            <a:ext cx="10058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20208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A00"/>
                </a:solidFill>
                <a:latin typeface="Open Sans"/>
              </a:rPr>
              <a:t>✅ Working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368296"/>
            <a:ext cx="54864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59" y="23682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2368296"/>
            <a:ext cx="16459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23682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Schema RAG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14600" y="2368296"/>
            <a:ext cx="71323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0" y="2368296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Qdrant + ChromaDB, schema_lookup()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46920" y="2368296"/>
            <a:ext cx="100584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0" y="236829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A00"/>
                </a:solidFill>
                <a:latin typeface="Open Sans"/>
              </a:rPr>
              <a:t>✅ Working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2715768"/>
            <a:ext cx="548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59" y="271576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" y="2715768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2715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SQL Pattern RAG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14600" y="2715768"/>
            <a:ext cx="7132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0320" y="2715768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sql_pattern_lookup(), 68+ patterns, 18 domains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46920" y="2715768"/>
            <a:ext cx="10058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2640" y="27157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A00"/>
                </a:solidFill>
                <a:latin typeface="Open Sans"/>
              </a:rPr>
              <a:t>✅ Working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3063239"/>
            <a:ext cx="54864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59" y="3063239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3063239"/>
            <a:ext cx="16459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3063239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Graph RAG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14600" y="3063239"/>
            <a:ext cx="71323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60320" y="3063239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NetworkX FK graph, AllPathsExplorer, TemporalGraphRAG, Meta-Path Library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46920" y="3063239"/>
            <a:ext cx="100584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92640" y="3063239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A00"/>
                </a:solidFill>
                <a:latin typeface="Open Sans"/>
              </a:rPr>
              <a:t>✅ Working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3410711"/>
            <a:ext cx="5486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59" y="3410711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5½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8680" y="3410711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341071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Graph Embedding Search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14600" y="3410711"/>
            <a:ext cx="71323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60320" y="3410711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Node2Vec structural + text hybrid, ChromaDB collections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3410711"/>
            <a:ext cx="10058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92640" y="3410711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A00"/>
                </a:solidFill>
                <a:latin typeface="Open Sans"/>
              </a:rPr>
              <a:t>✅ Working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029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13-Phase Execution Roadmap (condensed)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Open Sans"/>
              </a:rPr>
              <a:t>Full pipeline: query → meta-path → schema → SQL → graph → assembly → validation → execution → masking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4300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Montserrat"/>
              </a:rPr>
              <a:t>Numaligarh Refinery Limited | Internal Use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82880"/>
            <a:ext cx="594360" cy="5943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02D72"/>
                </a:solidFill>
                <a:latin typeface="Montserrat"/>
              </a:rPr>
              <a:t>NRL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Montserrat"/>
              </a:rPr>
              <a:t>Slide 4 of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594360" cy="3474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" y="132588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Phase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325880"/>
            <a:ext cx="1371600" cy="3474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3258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325880"/>
            <a:ext cx="7498079" cy="3474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132588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Description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1325880"/>
            <a:ext cx="1783080" cy="3474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1325880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673352"/>
            <a:ext cx="59436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9" y="167335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1673352"/>
            <a:ext cx="13716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16733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Meta-Path Match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1673352"/>
            <a:ext cx="7498079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1673352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Fast-path template matching (14 pre-computed JOIN paths)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1673352"/>
            <a:ext cx="178308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1673352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A00"/>
                </a:solidFill>
                <a:latin typeface="Open Sans"/>
              </a:rPr>
              <a:t>✅ Working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020824"/>
            <a:ext cx="594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59" y="20208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2020824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202082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Schema RAG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2020824"/>
            <a:ext cx="7498079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31720" y="2020824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Qdrant semantic search over DDIC metadata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2020824"/>
            <a:ext cx="1783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29800" y="2020824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A00"/>
                </a:solidFill>
                <a:latin typeface="Open Sans"/>
              </a:rPr>
              <a:t>✅ Working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368296"/>
            <a:ext cx="59436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59" y="2368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1.5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2368296"/>
            <a:ext cx="13716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23682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Graph Embedding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2368296"/>
            <a:ext cx="7498079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31720" y="2368296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Node2Vec structural + text hybrid table discovery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84080" y="2368296"/>
            <a:ext cx="178308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9800" y="2368296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A00"/>
                </a:solidFill>
                <a:latin typeface="Open Sans"/>
              </a:rPr>
              <a:t>✅ Working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2715768"/>
            <a:ext cx="594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59" y="271576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1.75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2715768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27157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QM Semantic Search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2715768"/>
            <a:ext cx="7498079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31720" y="2715768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20yr QM notification long-text semantic search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84080" y="2715768"/>
            <a:ext cx="1783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29800" y="2715768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A00"/>
                </a:solidFill>
                <a:latin typeface="Open Sans"/>
              </a:rPr>
              <a:t>✅ Working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3063239"/>
            <a:ext cx="59436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59" y="3063239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3063239"/>
            <a:ext cx="13716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306323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SQL Pattern RAG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0" y="3063239"/>
            <a:ext cx="7498079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31720" y="3063239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Qdrant proven SQL patterns (18 domains)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84080" y="3063239"/>
            <a:ext cx="178308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29800" y="3063239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A00"/>
                </a:solidFill>
                <a:latin typeface="Open Sans"/>
              </a:rPr>
              <a:t>✅ Working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3410711"/>
            <a:ext cx="594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59" y="341071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2b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3410711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0120" y="3410711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Temporal Detection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0" y="3410711"/>
            <a:ext cx="7498079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31720" y="3410711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Date/fiscal anchor detection → temporal filters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84080" y="3410711"/>
            <a:ext cx="1783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29800" y="3410711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A00"/>
                </a:solidFill>
                <a:latin typeface="Open Sans"/>
              </a:rPr>
              <a:t>✅ Working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3758183"/>
            <a:ext cx="59436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59" y="3758183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5.5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" y="3758183"/>
            <a:ext cx="13716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0120" y="3758183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Validation Harness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0" y="3758183"/>
            <a:ext cx="7498079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331720" y="3758183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SELECT COUNT(*) dry-run → syntax validation → autonomous fix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784080" y="3758183"/>
            <a:ext cx="178308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29800" y="3758183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NEW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4105655"/>
            <a:ext cx="594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59" y="4105655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4400" y="4105655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60120" y="4105655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Self-Healing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0" y="4105655"/>
            <a:ext cx="7498079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331720" y="4105655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Rule-based SQL correction (10 error codes → 6 heal strategies)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784080" y="4105655"/>
            <a:ext cx="1783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29800" y="4105655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A00"/>
                </a:solidFill>
                <a:latin typeface="Open Sans"/>
              </a:rPr>
              <a:t>✅ Working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" y="4453127"/>
            <a:ext cx="59436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5759" y="4453127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6b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14400" y="4453127"/>
            <a:ext cx="13716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0120" y="4453127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Memory Compounding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0" y="4453127"/>
            <a:ext cx="7498079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331720" y="4453127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Auto-vectorize healed SQL back into Qdrant pattern store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784080" y="4453127"/>
            <a:ext cx="178308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829800" y="4453127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NEW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4800599"/>
            <a:ext cx="594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5759" y="4800599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6c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14400" y="4800599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60120" y="480059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Threat Sentinel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286000" y="4800599"/>
            <a:ext cx="7498079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331720" y="4800599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6 threat engines + dynamic AuthContext tightening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784080" y="4800599"/>
            <a:ext cx="1783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829800" y="4800599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NEW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0040" y="5148071"/>
            <a:ext cx="59436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65759" y="514807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10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14400" y="5148071"/>
            <a:ext cx="13716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60120" y="5148071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Multi-Agent Swarm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286000" y="5148071"/>
            <a:ext cx="7498079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331720" y="5148071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Planner + 7 Domain Agents + Synthesis Agent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784080" y="5148071"/>
            <a:ext cx="178308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29800" y="5148071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LIVE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0040" y="5495543"/>
            <a:ext cx="594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65759" y="5495543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13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14400" y="5495543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60120" y="5495543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Inter-Agent Message Bus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286000" y="5495543"/>
            <a:ext cx="7498079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331720" y="5495543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Redis pub/sub + streams, 6 message types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784080" y="5495543"/>
            <a:ext cx="1783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829800" y="5495543"/>
            <a:ext cx="1691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IMPLEMENTED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029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Infrastructure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Open Sans"/>
              </a:rPr>
              <a:t>As of April 15, 2026 — 18:00 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4300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Montserrat"/>
              </a:rPr>
              <a:t>Numaligarh Refinery Limited | Internal Use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82880"/>
            <a:ext cx="594360" cy="5943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02D72"/>
                </a:solidFill>
                <a:latin typeface="Montserrat"/>
              </a:rPr>
              <a:t>NRL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Montserrat"/>
              </a:rPr>
              <a:t>Slide 5 of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2697480" cy="12801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4904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Qdrant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8288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00"/>
                </a:solidFill>
                <a:latin typeface="Open Sans"/>
              </a:rPr>
              <a:t>✅ 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103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  <a:latin typeface="Open Sans"/>
              </a:rPr>
              <a:t>4 collections: sap_schema, sql_patterns, graph_node_embeddings, graph_table_context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1417320"/>
            <a:ext cx="2697480" cy="12801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14904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Memgraph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18288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00"/>
                </a:solidFill>
                <a:latin typeface="Open Sans"/>
              </a:rPr>
              <a:t>✅ 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2103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  <a:latin typeface="Open Sans"/>
              </a:rPr>
              <a:t>114 nodes / 137 edges. All NetworkX edges synced. Cypher queries working.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34456" y="1417320"/>
            <a:ext cx="2697480" cy="12801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25896" y="14904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ChromaDB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5896" y="18288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00"/>
                </a:solidFill>
                <a:latin typeface="Open Sans"/>
              </a:rPr>
              <a:t>🔄 RETIRED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6" y="2103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  <a:latin typeface="Open Sans"/>
              </a:rPr>
              <a:t>All collections migrated to Qdrant. Schema RAG, Pattern RAG, QM, Graph Embeddings.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41664" y="1417320"/>
            <a:ext cx="2697480" cy="12801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33104" y="14904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RabbitMQ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18288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00"/>
                </a:solidFill>
                <a:latin typeface="Open Sans"/>
              </a:rPr>
              <a:t>✅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3104" y="2103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  <a:latin typeface="Open Sans"/>
              </a:rPr>
              <a:t>amqp://sapmasters:sapmasters123@localhost:5672//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862072"/>
            <a:ext cx="2697480" cy="12801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2935224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Redis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327355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00"/>
                </a:solidFill>
                <a:latin typeface="Open Sans"/>
              </a:rPr>
              <a:t>✅ ACTIVE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354787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  <a:latin typeface="Open Sans"/>
              </a:rPr>
              <a:t>localhost:6379/0 — dialog sessions, role preferences, memory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27248" y="2862072"/>
            <a:ext cx="2697480" cy="12801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18688" y="2935224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Celery Worker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18688" y="327355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00"/>
                </a:solidFill>
                <a:latin typeface="Open Sans"/>
              </a:rPr>
              <a:t>✅ ACTIVE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688" y="354787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  <a:latin typeface="Open Sans"/>
              </a:rPr>
              <a:t>4 threads, queues: agent + priority. Swarm autoscaling via domain_tasks.py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029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Memgraph Migration (M1–M7)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Open Sans"/>
              </a:rPr>
              <a:t>In-memory NetworkX → distributed Memgraph Cypher. Non-breaking migration.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4300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Montserrat"/>
              </a:rPr>
              <a:t>Numaligarh Refinery Limited | Internal Use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82880"/>
            <a:ext cx="594360" cy="5943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02D72"/>
                </a:solidFill>
                <a:latin typeface="Montserrat"/>
              </a:rPr>
              <a:t>NRL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Montserrat"/>
              </a:rPr>
              <a:t>Slide 6 of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594360" cy="3474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" y="132588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Phase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325880"/>
            <a:ext cx="8686800" cy="3474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32588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1325880"/>
            <a:ext cx="1965960" cy="3474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132588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673352"/>
            <a:ext cx="59436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59" y="167335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M1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1673352"/>
            <a:ext cx="86868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673352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Memgraph 2.12.0 + Lab — Docker Compose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1673352"/>
            <a:ext cx="196596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1673352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Complete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020824"/>
            <a:ext cx="594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59" y="20208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M1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2020824"/>
            <a:ext cx="8686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2020824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Schema init + load (init_schema.cql) — 114 nodes, 47 edges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2020824"/>
            <a:ext cx="1965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202082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Complete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368296"/>
            <a:ext cx="59436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59" y="2368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M2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2368296"/>
            <a:ext cx="86868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2368296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Cypher port — native pattern matching (no LENGTH/relationships on paths)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2368296"/>
            <a:ext cx="196596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46920" y="2368296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Complete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715768"/>
            <a:ext cx="594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59" y="271576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M3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2715768"/>
            <a:ext cx="8686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2715768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use_memgraph flag in main.py + auto-sync on startup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2715768"/>
            <a:ext cx="1965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6920" y="2715768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Complete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063239"/>
            <a:ext cx="59436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59" y="3063239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M4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3063239"/>
            <a:ext cx="86868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3063239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Qdrant cluster migration (Schema RAG + Pattern RAG + QM + Graph Embeddings)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0" y="3063239"/>
            <a:ext cx="196596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46920" y="3063239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Complete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410711"/>
            <a:ext cx="594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59" y="341071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M5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3410711"/>
            <a:ext cx="8686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3410711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Celery async worker pool (RabbitMQ + Redis + 4-thread worker)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01200" y="3410711"/>
            <a:ext cx="1965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46920" y="3410711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Complete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3758183"/>
            <a:ext cx="59436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59" y="3758183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M6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3758183"/>
            <a:ext cx="86868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" y="3758183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Load testing + production tuning (memgraph_load_test.py)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01200" y="3758183"/>
            <a:ext cx="196596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46920" y="3758183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500"/>
                </a:solidFill>
                <a:latin typeface="Open Sans"/>
              </a:rPr>
              <a:t>🚧 Pending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105655"/>
            <a:ext cx="594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59" y="4105655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M7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4105655"/>
            <a:ext cx="8686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0120" y="4105655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Real SAP HANA connection (hana_pool.py, HANA_MODE=pool)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01200" y="4105655"/>
            <a:ext cx="19659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46920" y="4105655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500"/>
                </a:solidFill>
                <a:latin typeface="Open Sans"/>
              </a:rPr>
              <a:t>🚧 Pending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029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Harness Engineering — Three Innovations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Open Sans"/>
              </a:rPr>
              <a:t>Self-validated, self-improving agent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4300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Montserrat"/>
              </a:rPr>
              <a:t>Numaligarh Refinery Limited | Internal Use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82880"/>
            <a:ext cx="594360" cy="5943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02D72"/>
                </a:solidFill>
                <a:latin typeface="Montserrat"/>
              </a:rPr>
              <a:t>NRL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Montserrat"/>
              </a:rPr>
              <a:t>Slide 7 of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530352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Phase 5.5: Deep Harnessing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783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File: sql_executor.py + orchestrator.py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1671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SELECT COUNT(*) dry-run before real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5511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Error codes: 37000, ORA-01476, ORA-00942, ORA-01799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9352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On failure: SelfHealer.heal() → re-test → then execute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3192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Zero human intervention for syntax recovery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325880"/>
            <a:ext cx="585216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13258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Phase 6b: Memory Compounding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78308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File: orchestrator.py — Step 8b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16712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Self-heal success → build intent string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551176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store_manager.load_domain() → Qdrant upsert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935224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AI autonomously expands pattern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33192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Healed queries become future fast-path hits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029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Harness Engineering — Phase 6c: Threat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Open Sans"/>
              </a:rPr>
              <a:t>Proactive threat detection — 32KB security_sentinel.py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4300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Montserrat"/>
              </a:rPr>
              <a:t>Numaligarh Refinery Limited | Internal Use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82880"/>
            <a:ext cx="594360" cy="5943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02D72"/>
                </a:solidFill>
                <a:latin typeface="Montserrat"/>
              </a:rPr>
              <a:t>NRL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Montserrat"/>
              </a:rPr>
              <a:t>Slide 7 of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530352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6 Threat Engines (security_sentinel.py)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783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CROSS_MODULE_ESCALATION — multi-hop graph traversal to out-of-scope 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1671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SCHEMA_ENUMERATION — bulk table discovery probes (&gt;5 new tables/query)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5511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DENIED_TABLE_PROBE — repeated attempts to access blocked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9352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DATA_EXFILTRATION — unusually large result sets (&gt;5,000 rows)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3192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TEMPORAL_INFERENCE — restricted historical period access by HR/AP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703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ROLE_IMPERSONATION — sudden cross-domain shift mid-session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325880"/>
            <a:ext cx="585216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13258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Sentinel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178308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DISABLED | AUDIT | ENFORCING modes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16712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Dynamic AuthContext tightening (tightness 0→3)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551176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Denied table expansion, masked field expansion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935224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SIEM/webhook alerts on ENFORCING violations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3319272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Pre-execution gate in orchestrator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70332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• Verdict returned in API 'sentinel' key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029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Harness Engineering — Three Innovations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Open Sans"/>
              </a:rPr>
              <a:t>Self-validated, self-improving agent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4300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Montserrat"/>
              </a:rPr>
              <a:t>Numaligarh Refinery Limited | Internal Use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82880"/>
            <a:ext cx="594360" cy="5943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02D72"/>
                </a:solidFill>
                <a:latin typeface="Montserrat"/>
              </a:rPr>
              <a:t>NRL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Montserrat"/>
              </a:rPr>
              <a:t>Slide 7 of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DA5"/>
                </a:solidFill>
                <a:latin typeface="Montserrat"/>
              </a:rPr>
              <a:t>Phase 5.5 — Deep Harnessing (Validation Harness)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69164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Open Sans"/>
              </a:rPr>
              <a:t>  • SELECT COUNT(*) dry-run before real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029968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Open Sans"/>
              </a:rPr>
              <a:t>  • Error codes: 37000, ORA-01476, ORA-00942, ORA-01799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368296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Open Sans"/>
              </a:rPr>
              <a:t>  • On failure: SelfHealer.heal() → re-test → execute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706624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Open Sans"/>
              </a:rPr>
              <a:t>  • Zero human intervention for syntax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3258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DA5"/>
                </a:solidFill>
                <a:latin typeface="Montserrat"/>
              </a:rPr>
              <a:t>Phase 6b — Memory Compounding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691640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Open Sans"/>
              </a:rPr>
              <a:t>  • Self-heal success → Qdrant upsert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29968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Open Sans"/>
              </a:rPr>
              <a:t>  • AI autonomously expands pattern library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368296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Open Sans"/>
              </a:rPr>
              <a:t>  • Healed queries become future fast-path hits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54680"/>
            <a:ext cx="11430000" cy="347472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1546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Phase 6c — Proactive Threat Sentinel (32KB security_sentinel.py)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59359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Open Sans"/>
              </a:rPr>
              <a:t>  • 6 engines: CROSS_MODULE_ESCALATION, SCHEMA_ENUMERATION, DENIED_TABLE_PROBE, DATA_EXFILTRATION, TEMPORAL_INFERENCE, ROLE_IMPERSONATION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94106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Open Sans"/>
              </a:rPr>
              <a:t>  • Modes: DISABLED | AUDIT | ENFORCING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288536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Open Sans"/>
              </a:rPr>
              <a:t>  • Actions: AuthContext tightening → denied_tables expansion → SIEM/webhook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63600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Open Sans"/>
              </a:rPr>
              <a:t>  • Pre-execution gate in orchestrator; verdict returned in API 'sentinel' key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029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Multi-Agent Domain Swarm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Open Sans"/>
              </a:rPr>
              <a:t>Port 8001 live — 7 specialist agents + Planner + Synthesis + Message Bus + Negotiation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4300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Montserrat"/>
              </a:rPr>
              <a:t>Numaligarh Refinery Limited | Internal Use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82880"/>
            <a:ext cx="594360" cy="5943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02D72"/>
                </a:solidFill>
                <a:latin typeface="Montserrat"/>
              </a:rPr>
              <a:t>NRL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Montserrat"/>
              </a:rPr>
              <a:t>Slide 8 of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3200400" cy="3474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" y="13258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Component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1325880"/>
            <a:ext cx="5029200" cy="3474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3258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File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1325880"/>
            <a:ext cx="2103120" cy="3474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325880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673352"/>
            <a:ext cx="32004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59" y="16733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7 Domain Agents (pur/bp/mm/qm/sd/wm/cross)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1673352"/>
            <a:ext cx="50292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16733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domain_agents.py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1673352"/>
            <a:ext cx="21031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673352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A00"/>
                </a:solidFill>
                <a:latin typeface="Open Sans"/>
              </a:rPr>
              <a:t>✅ Working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020824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59" y="20208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Planner Agent + Complexity Analyzer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2020824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20208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swarm/planner_agent.py (19KB)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49640" y="2020824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202082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LIVE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368296"/>
            <a:ext cx="32004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59" y="236829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Synthesis Agent (merge + rank + conflicts)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2368296"/>
            <a:ext cx="50292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23682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swarm/synthesis_agent.py (16KB)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2368296"/>
            <a:ext cx="21031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2368296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LIVE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715768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59" y="27157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Swarm entry point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2715768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0" y="27157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swarm/__init__.py (2KB)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49640" y="2715768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2715768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LIVE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063239"/>
            <a:ext cx="32004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59" y="306323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Orchestrator use_swarm flag + API wiring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20440" y="3063239"/>
            <a:ext cx="50292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0" y="306323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orchestrator.py, api/endpoints/chat.py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3063239"/>
            <a:ext cx="21031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3063239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LIVE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410711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59" y="341071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Frontend default use_swarm=True + swarm UI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20440" y="3410711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66160" y="3410711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frontend/app.py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49640" y="3410711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410711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LIVE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3758183"/>
            <a:ext cx="32004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59" y="3758183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Inter-Agent Message Bus (Redis pub/sub)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20440" y="3758183"/>
            <a:ext cx="50292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66160" y="3758183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app/core/message_bus.py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49640" y="3758183"/>
            <a:ext cx="21031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95360" y="3758183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IMPLEMENTED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105655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59" y="4105655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Negotiation Protocol (4-phase)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20440" y="4105655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66160" y="4105655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app/core/negotiation_protocol.py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49640" y="4105655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95360" y="4105655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IMPLEMENTED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4453127"/>
            <a:ext cx="32004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59" y="4453127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Swarm Autoscaling — Per-domain Celery queues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20440" y="4453127"/>
            <a:ext cx="50292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66160" y="4453127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app/workers/domain_tasks.py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49640" y="4453127"/>
            <a:ext cx="21031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95360" y="4453127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✅ IMPLEMENTED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029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Swarm Bugs Fixed During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Open Sans"/>
              </a:rPr>
              <a:t>3 bugs resolved before go-live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4300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Montserrat"/>
              </a:rPr>
              <a:t>Numaligarh Refinery Limited | Internal Use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82880"/>
            <a:ext cx="594360" cy="5943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02D72"/>
                </a:solidFill>
                <a:latin typeface="Montserrat"/>
              </a:rPr>
              <a:t>NRL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Montserrat"/>
              </a:rPr>
              <a:t>Slide 9 of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82296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716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Bug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A00"/>
                </a:solidFill>
                <a:latin typeface="Montserrat"/>
              </a:rPr>
              <a:t>tables_involved referenced before 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3716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Added early init before sentinel evaluation gate in orchestrator.py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83664"/>
            <a:ext cx="82296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88366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Bug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188366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A00"/>
                </a:solidFill>
                <a:latin typeface="Montserrat"/>
              </a:rPr>
              <a:t>cross_agent list index out of 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883664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_mask_results guard: table = self.primary_tables[0] if self.primary_tables else ''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395728"/>
            <a:ext cx="82296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39572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Bug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3957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A00"/>
                </a:solidFill>
                <a:latin typeface="Montserrat"/>
              </a:rPr>
              <a:t>abs(min(vals), 0.01) Python syntax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239572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Fixed to max(abs(min(vals)), 0.01) in synthesis_agent.py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07792"/>
            <a:ext cx="82296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90779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Bug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29077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A00"/>
                </a:solidFill>
                <a:latin typeface="Montserrat"/>
              </a:rPr>
              <a:t>UnboundLocalError on get_harness_runs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2907792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Removed inner 'from ... import' inside try blocks in orchestrator.py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419856"/>
            <a:ext cx="82296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41985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Bug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41985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A00"/>
                </a:solidFill>
                <a:latin typeface="Montserrat"/>
              </a:rPr>
              <a:t>IndexError: list index out of range (tables_involved)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3419856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Added elif tables_involved / else: base_sql='' guard at orchestrator.py ~1453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931920"/>
            <a:ext cx="82296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931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Bug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A00"/>
                </a:solidFill>
                <a:latin typeface="Montserrat"/>
              </a:rPr>
              <a:t>IndexError: decision.assignments[0] empty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39319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Added if not decision.assignments guard in planner_agent.py dispatch_single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029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Pending Work — P0 to P3 + M6–M7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Open Sans"/>
              </a:rPr>
              <a:t>Items blocking production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4300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Montserrat"/>
              </a:rPr>
              <a:t>Numaligarh Refinery Limited | Internal Use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82880"/>
            <a:ext cx="594360" cy="5943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02D72"/>
                </a:solidFill>
                <a:latin typeface="Montserrat"/>
              </a:rPr>
              <a:t>NRL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Montserrat"/>
              </a:rPr>
              <a:t>Slide 10 of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1920240" cy="4114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417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P0 — Real SAP HANA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41732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Wire hdbcli to replace mock executor. Final production barrier.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947672"/>
            <a:ext cx="1920240" cy="4114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94767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P1 — BAPI Workflow Harness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947672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BAPI_PO_CHANGE, BAPI_VENDOR_CREATE, BAPI_MATERIAL_SAVEDATA, BAPI_SALESORDER_CHANGE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78024"/>
            <a:ext cx="1920240" cy="4114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47802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P2 — Inter-Agent Message Bus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478024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Break domain agents out of star-topology via direct agent-to-agent negotiation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008376"/>
            <a:ext cx="1920240" cy="4114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00837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P3 — 50-Query Benchmark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008376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Golden dataset to feed Eval Alerting with real failure signals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38728"/>
            <a:ext cx="1920240" cy="4114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5387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M6 — Load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538728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Run memgraph_load_test.py at concurrency 10–20, tune pool_size=20+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069080"/>
            <a:ext cx="1920240" cy="41148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0690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M7 — Memgraph M2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406908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Replace NetworkX with direct Memgraph Cypher queries (find_all_ranked_paths_native)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029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Key Files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Open Sans"/>
              </a:rPr>
              <a:t>Core engineering reference — all files under backend/app/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4300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Montserrat"/>
              </a:rPr>
              <a:t>Numaligarh Refinery Limited | Internal Use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82880"/>
            <a:ext cx="594360" cy="5943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02D72"/>
                </a:solidFill>
                <a:latin typeface="Montserrat"/>
              </a:rPr>
              <a:t>NRL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Montserrat"/>
              </a:rPr>
              <a:t>Slide 11 of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2743200" cy="3474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" y="1325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1325880"/>
            <a:ext cx="6858000" cy="3474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32588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21240" y="1325880"/>
            <a:ext cx="1645920" cy="34747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132588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ontserrat"/>
              </a:rPr>
              <a:t>Phase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673352"/>
            <a:ext cx="27432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59" y="16733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orchestrator.py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40" y="1673352"/>
            <a:ext cx="68580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1673352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Main agentic loop — 10-step run_agent_loop()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21240" y="1673352"/>
            <a:ext cx="16459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6733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Pillar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020824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59" y="202082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security.py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2020824"/>
            <a:ext cx="6858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2020824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SAPAuthContext + SecurityMesh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2020824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20208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Pillar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368296"/>
            <a:ext cx="27432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59" y="236829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security_sentinel.py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0" y="2368296"/>
            <a:ext cx="68580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2368296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Proactive Threat Sentinel (32KB)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21240" y="2368296"/>
            <a:ext cx="16459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23682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Phase 6c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715768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59" y="27157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self_healer.py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63240" y="2715768"/>
            <a:ext cx="6858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0" y="2715768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SQL self-healing engine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40" y="2715768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66960" y="2715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Phase 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063239"/>
            <a:ext cx="27432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59" y="3063239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vector_store.py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63240" y="3063239"/>
            <a:ext cx="68580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0" y="3063239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Dual-backend Qdrant + ChromaDB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21240" y="3063239"/>
            <a:ext cx="16459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960" y="3063239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Pillar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410711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59" y="341071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graph_embedding_store.py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63240" y="3410711"/>
            <a:ext cx="6858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08960" y="3410711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Node2Vec + text hybrid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21240" y="3410711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6960" y="341071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Pillar 5½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3758183"/>
            <a:ext cx="27432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59" y="3758183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meta_path_library.py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63240" y="3758183"/>
            <a:ext cx="68580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08960" y="3758183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14 meta-paths, 22+ JOIN variants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21240" y="3758183"/>
            <a:ext cx="16459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66960" y="3758183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Phase 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105655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59" y="410565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graph_store.py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63240" y="4105655"/>
            <a:ext cx="6858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08960" y="4105655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NetworkX FK graph + AllPathsExplorer + TemporalGraphRAG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21240" y="4105655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66960" y="410565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Pillar 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4453127"/>
            <a:ext cx="27432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59" y="4453127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sql_executor.py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63240" y="4453127"/>
            <a:ext cx="68580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0" y="4453127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SAP HANA executor (mock + hdbcli)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921240" y="4453127"/>
            <a:ext cx="16459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66960" y="4453127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Phase 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4800599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59" y="4800599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orchestrator_tools.py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63240" y="4800599"/>
            <a:ext cx="6858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108960" y="4800599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Tool registry + 12 tool implementations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921240" y="4800599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66960" y="4800599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Orchestration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5148071"/>
            <a:ext cx="27432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59" y="514807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planner_agent.py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63240" y="5148071"/>
            <a:ext cx="68580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108960" y="5148071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Planner Agent + Complexity Analyzer (19KB)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21240" y="5148071"/>
            <a:ext cx="16459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966960" y="514807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Phase 10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" y="5495543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5759" y="5495543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synthesis_agent.py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63240" y="5495543"/>
            <a:ext cx="6858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08960" y="5495543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Synthesis Agent (16KB)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921240" y="5495543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966960" y="5495543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Phase 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" y="5843015"/>
            <a:ext cx="27432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59" y="584301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domain_tasks.py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063240" y="5843015"/>
            <a:ext cx="68580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108960" y="5843015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Per-domain Celery tasks + queue routing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921240" y="5843015"/>
            <a:ext cx="16459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66960" y="5843015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Phase SWARM-AUTO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0040" y="6190487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5759" y="6190487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message_bus.py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63240" y="6190487"/>
            <a:ext cx="6858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108960" y="6190487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Redis pub/sub + streams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921240" y="6190487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966960" y="6190487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Phase 13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0040" y="6537959"/>
            <a:ext cx="27432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65759" y="6537959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negotiation_protocol.py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63240" y="6537959"/>
            <a:ext cx="68580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108960" y="6537959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4-phase conflict resolution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921240" y="6537959"/>
            <a:ext cx="164592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966960" y="6537959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Phase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029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Swarm Autoscaling — Per-Domain Celery Queues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Open Sans"/>
              </a:rPr>
              <a:t>Horizontal scaling via independent domain workers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4300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Montserrat"/>
              </a:rPr>
              <a:t>Numaligarh Refinery Limited | Internal Use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82880"/>
            <a:ext cx="594360" cy="5943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02D72"/>
                </a:solidFill>
                <a:latin typeface="Montserrat"/>
              </a:rPr>
              <a:t>NRL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Montserrat"/>
              </a:rPr>
              <a:t>Slide 12 of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417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  ◆ 7 domain-specific queues: pur_queue, bp_queue, mm_queue, qm_queue, sd_queue, wm_queue, cross_queue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8470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  ◆ dispatch_domain_group(domain, tasks) — dispatches domain tasks to Celery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27685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  ◆ collect_group_results(async_results) — threads results back to Synthesis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70662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  ◆ domain_tasks.py (381 lines) — replaces ThreadPoolExecutor in dispatch_parallel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36391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  ◆ Celery task per domain agent = independent horizontal scaling per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56615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  ◆ agent queue remains as fallback for non-domain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995927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  ◆ Broker: RabbitMQ (amqp://sapmasters:sapmasters123@localhost:5672//)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425695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  ◆ Result backend: Redis (localhost:6379/0)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855463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Open Sans"/>
              </a:rPr>
              <a:t>  ◆ Worker: 4 threads, queues: agent + priority + all domain queues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5029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API Contract &amp;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50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  <a:latin typeface="Open Sans"/>
              </a:rPr>
              <a:t>How engineers should call the orchestrator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43000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Montserrat"/>
              </a:rPr>
              <a:t>Numaligarh Refinery Limited | Internal Use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82880"/>
            <a:ext cx="594360" cy="5943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02D72"/>
                </a:solidFill>
                <a:latin typeface="Montserrat"/>
              </a:rPr>
              <a:t>NRL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492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04040"/>
                </a:solidFill>
                <a:latin typeface="Montserrat"/>
              </a:rPr>
              <a:t>Slide 13 of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3716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DA5"/>
                </a:solidFill>
                <a:latin typeface="Montserrat"/>
              </a:rPr>
              <a:t>POST /api/v1/chat/master-data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7647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Montserrat"/>
              </a:rPr>
              <a:t>Request Body (JSON)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03120"/>
            <a:ext cx="5303520" cy="1188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121408"/>
            <a:ext cx="51206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urier New"/>
              </a:rPr>
              <a:t>{
  "query": "vendor payment terms for company code 1000",
  "user_role": "AP_CLERK",
  "domain": "auto",
  "use_swarm": False
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7647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Montserrat"/>
              </a:rPr>
              <a:t>Response Fields (key)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12140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  • tables_used — list of SAP table names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395727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  • executed_sql — generated + validated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670047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  • data — result records (masked per role)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944367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  • confidence_score — 6-signal composite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218687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  • tool_trace — phase-by-phase execution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493007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  • sentinel — threat detection verdict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767327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Open Sans"/>
              </a:rPr>
              <a:t>  • swarm_routing — single/parallel/cross_module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6576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4A00"/>
                </a:solidFill>
                <a:latin typeface="Open Sans"/>
              </a:rPr>
              <a:t>use_swarm=True triggers Multi-Agent Domain Swarm (7 agents in parallel)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731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1097280" cy="109728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02D72"/>
                </a:solidFill>
                <a:latin typeface="Montserrat"/>
              </a:rPr>
              <a:t>NRL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Montserrat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D100"/>
                </a:solidFill>
                <a:latin typeface="Open Sans"/>
              </a:rPr>
              <a:t>Questions? Let's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DD"/>
                </a:solidFill>
                <a:latin typeface="Open Sans"/>
              </a:rPr>
              <a:t>Know Your SAP Masters — Level-5 Technical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D100"/>
                </a:solidFill>
                <a:latin typeface="Montserrat"/>
              </a:rPr>
              <a:t>Energy in 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Montserrat"/>
              </a:rPr>
              <a:t>Numaligarh Refinery Limited  |  Internal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