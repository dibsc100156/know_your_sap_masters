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27095520000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48472" y="0"/>
            <a:ext cx="69677280000" cy="62709552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0" y="1"/>
            <a:ext cx="3" cy="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BUSINESS TEAM — PROCUREMENT &amp;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Know Your
SAP Masters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5A623"/>
                </a:solidFill>
              </a:rPr>
              <a:t>Vendor Master Intelligence — Built for Procurement &amp; Finance Teams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17720"/>
            <a:ext cx="3200400" cy="3483864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9BA8"/>
                </a:solidFill>
              </a:rPr>
              <a:t>Ask in plain English. Get SAP SQL intelligence. Stay in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914400"/>
            <a:ext cx="3108960" cy="82296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960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Query Vendor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2984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LFA1, LFB1, LFBK, ADRC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920240"/>
            <a:ext cx="3108960" cy="82296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Negotiation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3042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CLV, PSI, Churn Risk, BATNA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926080"/>
            <a:ext cx="3108960" cy="82296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971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20-Year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3101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Temporal Engine + Economic Cycles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931920"/>
            <a:ext cx="3108960" cy="82296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3977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Payment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43159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Overdue analysis, BSIK/BSAK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937760"/>
            <a:ext cx="3108960" cy="82296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49834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QM Long-Text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53218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20yr inspection complaints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Business Team Deck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Problem: Business Teams Can't Self-Serve SAP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Current reality: procurement and finance depend on Basis for every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</a:rPr>
              <a:t>Slow Report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Weekly or monthly procurement reports. By the time data arrives, it's stale. Every 'quick question' to Basis takes 3-5 business days.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13432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13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</a:rPr>
              <a:t>No Vendor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1518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SAP has 20 years of vendor history — delivery failures, quality issues, price trends, payment behavior. Nobody can synthesize it fast enough to use in a negotiation.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92424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92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</a:rPr>
              <a:t>Incomplete Information at Negotiation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9417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Buyers walk into contract negotiations without CLV, churn risk, PSI score, or competitor pricing history. They lose negotiating leverage.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71416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714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</a:rPr>
              <a:t>No Plain-English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731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SAP transactions require transaction codes (ME1L, FK03, XK03) and field-level knowledge that business users shouldn't need to memorize.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50408"/>
            <a:ext cx="73152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550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92A"/>
                </a:solidFill>
              </a:rPr>
              <a:t>QM Complaints Buried in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85216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Quality complaint long-text (QMEL-LONGTEXT) has 20 years of inspection notes, defect descriptions, and root cause analysis — inaccessible without a Basis report.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Business Team Deck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Solution: Vendor Master Intelligence in Plain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Know Your SAP Masters gives business teams direct, secure, intelligent access to SAP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760720" cy="5029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79" y="1307592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307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C2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Plain English Queries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8366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Ask: 'Show me vendors in Germany with overdue invoices'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59152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042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Ask: 'What materials did Vendor X supply in Q3 2024?'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34640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797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Ask: 'Which vendors have the best delivery reliability?'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10128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552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No transaction codes. No Basis ticket required.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234440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234440"/>
            <a:ext cx="5760720" cy="50292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1307592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1307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06A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79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Vendor Negotiation Intelligence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1883664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1828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20-year vendor CLV, PSI score, churn risk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359152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3042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Competitor pricing history from EINA/EINE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834640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27797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Delivery reliability: on-time % over 3 years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310128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25526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Payment behavior: early payer or chronic late?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931920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931920"/>
            <a:ext cx="576072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79" y="4005072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005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688"/>
                </a:solidFill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Procurement Performance Analytics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581144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526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Spend by vendor, category, plant, FY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056632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001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Supplier Performance Index (composite 0-100)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532120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4772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Open PO risk: vendor financial health signals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007608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9527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Economic cycle tagging: COVID, inflation impact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931920"/>
            <a:ext cx="5760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3931920"/>
            <a:ext cx="5760720" cy="50292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79" y="4005072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79" y="4005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7D1A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79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Finance: AP &amp; Payment Intelligence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4581144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4526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Overdue vendor items with aging buckets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5056632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5001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Payment terms analysis (LFB1-ZTERM)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5532120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9400" y="54772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Bank account changes (audit risk detection)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6007608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29400" y="59527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Invoice dispute history and resolution time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Business Team Deck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Real Questions Business Teams Actually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Know Your SAP Masters translates natural language into SAP SQL — automatically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760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1005840" cy="123444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34440"/>
            <a:ext cx="1005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Procurement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30759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Which vendors in Germany have the highest overdue invoice balance?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19842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EKKO + BSIK + LFA1 + ADRC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760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1005840" cy="123444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34440"/>
            <a:ext cx="1005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Procurement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130759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Show me the Supplier Performance Index for our top 10 vendors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9" y="19842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EKKO + EKET + MSEG + QALS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60320"/>
            <a:ext cx="5760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560320"/>
            <a:ext cx="1005840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560320"/>
            <a:ext cx="1005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263347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What is the payment history trend for Vendor X over the last 3 years?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331012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BSIK + BSEG + LFA1 (temporal)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560320"/>
            <a:ext cx="5760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560320"/>
            <a:ext cx="1005840" cy="123444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560320"/>
            <a:ext cx="1005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Negotiation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263347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What price increases has Vendor X achieved in the last 5 years?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331012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EINA + KONP + AQP1 (temporal)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886200"/>
            <a:ext cx="5760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886200"/>
            <a:ext cx="1005840" cy="123444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886200"/>
            <a:ext cx="1005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395935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Summarize all QM complaints for Material Y in the last 24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46360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QALS + QMEL (semantic)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886200"/>
            <a:ext cx="5760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2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886200"/>
            <a:ext cx="1005840" cy="123444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886200"/>
            <a:ext cx="1005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19" y="395935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Which vendors changed their bank account details in the last 90 days?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19" y="46360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LFBK + CDHDR + CDPOS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212079"/>
            <a:ext cx="5760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5212079"/>
            <a:ext cx="1005840" cy="123444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5212079"/>
            <a:ext cx="1005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Procurement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19" y="5285231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What is the current stock level for Material X across all plants?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19" y="596188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MARD + MARC + MBEW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212079"/>
            <a:ext cx="57607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5212079"/>
            <a:ext cx="1005840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5212079"/>
            <a:ext cx="1005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Negotiation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19" y="5285231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D4A"/>
                </a:solidFill>
              </a:rPr>
              <a:t>Show me the CLV, churn risk, and BATNA for Customer 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19" y="596188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VBAP + BSID + KNVV + AQFE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Business Team Deck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Negotiation Briefing Generator — Your AI Strategy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Before every vendor negotiation: full intelligence brief in under 30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7607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76072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CLV Tier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37944"/>
            <a:ext cx="58064400000" cy="580644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GOLD: &gt;₹50L annual spend | SILVER: ₹10-50L | BRONZE: &lt;₹10L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40864"/>
            <a:ext cx="58064400000" cy="580644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Based on 3-year revenue from VBAP-NETWR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43784"/>
            <a:ext cx="58064400000" cy="580644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88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Used to set negotiating leverage 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57607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5760720" cy="4572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PSI Score (Supplier Performance Index)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837944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83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Composite 0-100: Delivery (40%) + Quality (35%) + Price (25%)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340864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286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Delivery: EKKO/EKET/MSEG on-time % over 12 months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843784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788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Quality: QALS UD code analysis (0=accepted, 1=deviation)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31920"/>
            <a:ext cx="57607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31920"/>
            <a:ext cx="576072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050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Churn Risk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535424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80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TRIGGER: &gt;90-day gap in purchase orders → flagged as CHURN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038344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83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TRIGGER: &gt;15% YoY price increase accepted → vendor has pricing power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541264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486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TRIGGER: Quality reject rate &gt;5% → vendor dependency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931920"/>
            <a:ext cx="57607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7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931920"/>
            <a:ext cx="5760720" cy="4572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050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BATNA &amp; Tactics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535424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480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Top tactic library: 8 strategies based on PSI + churn + CLV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5038344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4983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If PSI &gt; 75 AND churn = LOW → 'You have pricing power — hold firm'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541264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486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If PSI &lt; 40 AND churn = HIGH → 'Vendor needs you more than you need them'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Business Team Deck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20-Year Longitudinal Corporate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SAP from 2005 → your competitive advantage in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91440" cy="82296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292A"/>
                </a:solidFill>
              </a:rPr>
              <a:t>2008 Financial Crisis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Which raw material categories saw the highest vendor default rates in 2008-2010? Who were backup vendors we pivoted to?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LFA1 + EKKO + EKPO + MSEG + BSEG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13432"/>
            <a:ext cx="91440" cy="82296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13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D1A"/>
                </a:solidFill>
              </a:rPr>
              <a:t>COVID-19 Supply Chain Shock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33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Which vendors went silent (no POs) during Mar-Jun 2020? How long did recovery take?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42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EKKO + EKET + MSEG (temporal filter: 2020)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92424"/>
            <a:ext cx="91440" cy="822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9242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688"/>
                </a:solidFill>
              </a:rPr>
              <a:t>Inflation Squeeze 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12463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How did our top 20 vendors behave when we pushed back on price increases? Who accepted, who churned?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6210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EINA + KONP + EKKO (temporal: FY2022-FY2023)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471416"/>
            <a:ext cx="91440" cy="82296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714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C2"/>
                </a:solidFill>
              </a:rPr>
              <a:t>Post-Retirement Vendor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9145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A senior buyer retired — all tacit knowledge about Vendor X's 2012 payment disputes is gone from human memory. It's in SAP.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7000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BSIK + LFA1 + CDHDR + CDPOS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550408"/>
            <a:ext cx="91440" cy="82296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5504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6A"/>
                </a:solidFill>
              </a:rPr>
              <a:t>Warranty &amp; Quality Recalls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7044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Which materials had repeated quality defects over 10 years? Are there seasonal patterns (summer batches, winter coating failures)?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7790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A8"/>
                </a:solidFill>
              </a:rPr>
              <a:t>QALS + QMEL + MARA + MAPL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Business Team Deck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Security Built In — Role-Based Access for Business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Every query is scoped to what your SAP role is allowed to see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760720" cy="4572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 Clerk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3794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Access: Open invoices, payment history, vendor master basic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9514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Masked: Bank account numbers (STCD1), credit limits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5234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Scope: Own company code (BUKRS)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5760720" cy="4572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Procurement Buyer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837944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783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Access: POs, vendor evaluations, pricing conditions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295144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240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Masked: Other buyers' negotiation notes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752344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697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Scope: Own purchasing organization (EKORG) + plants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8620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886200"/>
            <a:ext cx="576072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9593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Finance Manager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489703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Access: Full AP/AR, G/L, cost centers, profit centers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946903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Masked: HR salary data, personal employee info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404103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349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Scope: All BUKRS in scope for role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88620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886200"/>
            <a:ext cx="5760720" cy="4572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9593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Category Manager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489703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434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Access: Spend analytics, vendor performance dashboards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946903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Masked: Individual employee data, internal cost details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404103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349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2D4A"/>
                </a:solidFill>
              </a:rPr>
              <a:t>Scope: Category (MATKL) + region (REGIO) filters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AC2"/>
                </a:solidFill>
              </a:rPr>
              <a:t>Security enforced at 3 layers: Prompt Injection → SQL WHERE Filter → Response Masking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Business Team Deck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ROI &amp; Total Cost of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Business case for Know Your SAP Masters vs. status quo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457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25272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Benefit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2527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Baseline (Status Quo)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25272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With KYSM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125272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Estimated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11521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691640"/>
            <a:ext cx="91440" cy="86868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6479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A"/>
                </a:solidFill>
              </a:rPr>
              <a:t>Basis Ticket Elimination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8288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8"/>
                </a:solidFill>
              </a:rPr>
              <a:t>3-5 days per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A"/>
                </a:solidFill>
              </a:rPr>
              <a:t>5-10 requests/week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8288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240-520 hrs/yr saved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51760"/>
            <a:ext cx="1152144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651760"/>
            <a:ext cx="91440" cy="86868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72491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Negotiation Win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788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8"/>
                </a:solidFill>
              </a:rPr>
              <a:t>Avg price increase: 2-3%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889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A"/>
                </a:solidFill>
              </a:rPr>
              <a:t>With intelligence: 4-6%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78892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+2-4% per contract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11880"/>
            <a:ext cx="11521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61188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68503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QM Complaint 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7490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8"/>
                </a:solidFill>
              </a:rPr>
              <a:t>Avg: 12 days to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74904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A"/>
                </a:solidFill>
              </a:rPr>
              <a:t>Semantic search: &lt;1 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74904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11+ days faster resolution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572000"/>
            <a:ext cx="1152144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572000"/>
            <a:ext cx="91440" cy="868680"/>
          </a:xfrm>
          <a:prstGeom prst="rect">
            <a:avLst/>
          </a:prstGeom>
          <a:solidFill>
            <a:srgbClr val="C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64515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92A"/>
                </a:solidFill>
              </a:rPr>
              <a:t>Audit Risk Reduction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709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8"/>
                </a:solidFill>
              </a:rPr>
              <a:t>Bank change fraud: 2-3/yr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7091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A"/>
                </a:solidFill>
              </a:rPr>
              <a:t>Auto-detection: real-time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470916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Near-zero undetected fraud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532120"/>
            <a:ext cx="11521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5532120"/>
            <a:ext cx="91440" cy="86868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605272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D1A"/>
                </a:solidFill>
              </a:rPr>
              <a:t>Report 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56692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BA8"/>
                </a:solidFill>
              </a:rPr>
              <a:t>Weekly manual: 4-6 hrs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669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A"/>
                </a:solidFill>
              </a:rPr>
              <a:t>Self-service: 2-3 mins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566928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~200 hrs/yr recovered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Business Team Deck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Know Your SAP Masters vs. SAP Joule — What's the Difference?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Not a replacement — a domain specialist built on top of SAP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00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0759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A"/>
                </a:solidFill>
              </a:rPr>
              <a:t>Breadth vs.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30759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</a:rPr>
              <a:t>Joule covers all SAP modules generically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30759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D4A"/>
                </a:solidFill>
              </a:rPr>
              <a:t>We focus on vendor master with 14 meta-paths and 20yr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30552"/>
            <a:ext cx="11521440" cy="822960"/>
          </a:xfrm>
          <a:prstGeom prst="rect">
            <a:avLst/>
          </a:prstGeom>
          <a:solidFill>
            <a:srgbClr val="F2F4F7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203704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Query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203704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</a:rPr>
              <a:t>Task automation ('run this workflow')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203704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D4A"/>
                </a:solidFill>
              </a:rPr>
              <a:t>SQL generation ('show me actual SAP data')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26664"/>
            <a:ext cx="11521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99816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Negotiation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099816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</a:rPr>
              <a:t>Generic CRM prompts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099816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D4A"/>
                </a:solidFill>
              </a:rPr>
              <a:t>PSI, CLV, churn risk, BATNA, price increase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22776"/>
            <a:ext cx="11521440" cy="822960"/>
          </a:xfrm>
          <a:prstGeom prst="rect">
            <a:avLst/>
          </a:prstGeom>
          <a:solidFill>
            <a:srgbClr val="F2F4F7"/>
          </a:solidFill>
          <a:ln w="6350">
            <a:solidFill>
              <a:srgbClr val="E87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99592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7D1A"/>
                </a:solidFill>
              </a:rPr>
              <a:t>Temporal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99592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</a:rPr>
              <a:t>Date-effective tables (SAP standard)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995928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D4A"/>
                </a:solidFill>
              </a:rPr>
              <a:t>Temporal engine + economic cycle tagging (2008, COVID, 2022)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818888"/>
            <a:ext cx="11521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8920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89204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</a:rPr>
              <a:t>Joule 'reflection' — opaque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892040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D4A"/>
                </a:solidFill>
              </a:rPr>
              <a:t>6-signal breakdown — fully auditable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715000"/>
            <a:ext cx="11521440" cy="822960"/>
          </a:xfrm>
          <a:prstGeom prst="rect">
            <a:avLst/>
          </a:prstGeom>
          <a:solidFill>
            <a:srgbClr val="F2F4F7"/>
          </a:solidFill>
          <a:ln w="635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788152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2"/>
                </a:solidFill>
              </a:rPr>
              <a:t>Customization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78815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A9BA8"/>
                </a:solidFill>
              </a:rPr>
              <a:t>SAP-managed, limited customization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78815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2D4A"/>
                </a:solidFill>
              </a:rPr>
              <a:t>Open Python stack — hot-reloadable patterns &amp;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Business Team Deck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5577708800" cy="91974009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9740096000"/>
            <a:ext cx="11145577708800" cy="464515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14557697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Implementation Path — Quick Wins for Business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114557697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5A623"/>
                </a:solidFill>
              </a:rPr>
              <a:t>Start in 2 weeks. See results in 4 weeks. Scale in 12 weeks.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889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788920" cy="50292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Week 1-2: Pilot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83664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59" y="182880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Deploy vendor master domain (LFA1 + LFB1 + LFBK + ADRC)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35224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288036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Onboard AP Clerk and 2 procurement buyers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86783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59" y="393192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Run first 20 queries — real business questions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38343"/>
            <a:ext cx="58064400000" cy="58064400000"/>
          </a:xfrm>
          <a:prstGeom prst="rect">
            <a:avLst/>
          </a:prstGeom>
          <a:solidFill>
            <a:srgbClr val="00B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59" y="4983479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Baseline: how many Basis tickets does this replace?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234440"/>
            <a:ext cx="27889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1234440"/>
            <a:ext cx="2788920" cy="5029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280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Week 3-4: Negotiation Intelligence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88366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182880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Activate Negotiation Briefing Generator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935224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88036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Pull PSI scores for top 20 vendors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986783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93192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Prepare 3 vendor negotiation briefings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5038343"/>
            <a:ext cx="58064400000" cy="580644000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4983479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Measure: negotiation outcome improvement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234440"/>
            <a:ext cx="27889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1234440"/>
            <a:ext cx="278892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280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Week 5-8: Temporal Expansion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883664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82880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Activate Temporal Engine for vendor history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935224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88036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Run 2008/COVID/inflation analysis for top vendors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986783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3192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Feed insights into annual contract negotiations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038343"/>
            <a:ext cx="58064400000" cy="58064400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983479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Measure: historical insight usage 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1234440"/>
            <a:ext cx="278892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D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1234440"/>
            <a:ext cx="2788920" cy="50292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1280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Week 9-12: Full Rollout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1883664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182880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All procurement + finance roles onboarded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2935224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72600" y="288036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18 SAP master data domains active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5440" y="3986783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393192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Self-service dashboard for category managers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35440" y="5038343"/>
            <a:ext cx="58064400000" cy="58064400000"/>
          </a:xfrm>
          <a:prstGeom prst="rect">
            <a:avLst/>
          </a:prstGeom>
          <a:solidFill>
            <a:srgbClr val="E87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2600" y="4983479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C2D4A"/>
                </a:solidFill>
              </a:rPr>
              <a:t>Measure: Basis ticket reduction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Business Team Deck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145577708800" cy="627095520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270955200000"/>
          </a:xfrm>
          <a:prstGeom prst="rect">
            <a:avLst/>
          </a:prstGeom>
          <a:solidFill>
            <a:srgbClr val="1A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48472" y="0"/>
            <a:ext cx="69677280000" cy="62709552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3200400" cy="3483864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From SAP Data Graveyard
to Negotiation Weapon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6E8F5"/>
                </a:solidFill>
              </a:rPr>
              <a:t>Know Your SAP Masters transforms 20 years of buried SAP data into real-time intelligence for your procurement and finance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20yrs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</a:rPr>
              <a:t>SAP Vendor
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&lt;30s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</a:rPr>
              <a:t>Negotiation
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</a:rPr>
              <a:t>Business
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20624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A623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A8"/>
                </a:solidFill>
              </a:rPr>
              <a:t>Basis
Tickets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Your Next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2039112"/>
            <a:ext cx="58064400000" cy="580644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Identify top 5 vendor negotiation questions your team asks weekly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2862072"/>
            <a:ext cx="58064400000" cy="580644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2788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Map which SAP roles need access (AP Clerk, Buyer, Finance Manager)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3685032"/>
            <a:ext cx="58064400000" cy="580644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36118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Schedule 30-min demo with procurement leadership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4507992"/>
            <a:ext cx="58064400000" cy="580644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60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Run pilot with 2 buyers and 1 AP Clerk — measure Basis ticket reduction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5330952"/>
            <a:ext cx="58064400000" cy="5806440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5257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Contact: your-SAP-masters-team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020116992000"/>
            <a:ext cx="11145577708800" cy="25083820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036839539200"/>
            <a:ext cx="1114557716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BA8"/>
                </a:solidFill>
              </a:rPr>
              <a:t>Know Your SAP Masters — Business Team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